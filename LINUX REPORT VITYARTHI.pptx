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5" r:id="rId10"/>
    <p:sldId id="264" r:id="rId11"/>
    <p:sldId id="266" r:id="rId12"/>
    <p:sldId id="273" r:id="rId13"/>
    <p:sldId id="275" r:id="rId14"/>
    <p:sldId id="267" r:id="rId15"/>
    <p:sldId id="268" r:id="rId16"/>
    <p:sldId id="269" r:id="rId17"/>
    <p:sldId id="270" r:id="rId18"/>
    <p:sldId id="274" r:id="rId19"/>
    <p:sldId id="272"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82E66A-315E-4FDC-A82E-8602CABCAF1C}" type="datetimeFigureOut">
              <a:rPr lang="en-IN" smtClean="0"/>
              <a:t>30-03-2026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36B4FF-E0E1-4EC7-82A1-A283A1E85966}" type="slidenum">
              <a:rPr lang="en-IN" smtClean="0"/>
              <a:t>‹#›</a:t>
            </a:fld>
            <a:endParaRPr lang="en-IN"/>
          </a:p>
        </p:txBody>
      </p:sp>
    </p:spTree>
    <p:extLst>
      <p:ext uri="{BB962C8B-B14F-4D97-AF65-F5344CB8AC3E}">
        <p14:creationId xmlns:p14="http://schemas.microsoft.com/office/powerpoint/2010/main" val="2911088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36B4FF-E0E1-4EC7-82A1-A283A1E85966}" type="slidenum">
              <a:rPr lang="en-IN" smtClean="0"/>
              <a:t>1</a:t>
            </a:fld>
            <a:endParaRPr lang="en-IN"/>
          </a:p>
        </p:txBody>
      </p:sp>
    </p:spTree>
    <p:extLst>
      <p:ext uri="{BB962C8B-B14F-4D97-AF65-F5344CB8AC3E}">
        <p14:creationId xmlns:p14="http://schemas.microsoft.com/office/powerpoint/2010/main" val="1623590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3F4BB-2FD9-615C-0519-9D9386B9BC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050A7B-1792-4EA4-ADC4-C8866CDB57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86BC65-FFA1-1E2E-D3B3-CBD8E92CEDEA}"/>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5" name="Footer Placeholder 4">
            <a:extLst>
              <a:ext uri="{FF2B5EF4-FFF2-40B4-BE49-F238E27FC236}">
                <a16:creationId xmlns:a16="http://schemas.microsoft.com/office/drawing/2014/main" id="{72AF21E6-C4C7-BDB2-752C-132298CA2B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BEC464-07C1-759E-A8D8-289DEF6984F1}"/>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2487247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563C-FBD1-1C48-FFBB-945B2F94B0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31E269-F806-EFE9-CB92-653A4582FF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CB63F3-909F-4E7E-F012-AA3D574B1019}"/>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5" name="Footer Placeholder 4">
            <a:extLst>
              <a:ext uri="{FF2B5EF4-FFF2-40B4-BE49-F238E27FC236}">
                <a16:creationId xmlns:a16="http://schemas.microsoft.com/office/drawing/2014/main" id="{F3DABF6A-53FE-E908-965D-7E1F705956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A8E6AB-D297-26E8-4C7F-1DC6A67A352E}"/>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3122638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48DBE-9F43-BC79-49ED-D021B4AE7C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76D249-1AB1-FCC1-8CB6-048960813F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436730-212A-D5B0-460D-2149F7402430}"/>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5" name="Footer Placeholder 4">
            <a:extLst>
              <a:ext uri="{FF2B5EF4-FFF2-40B4-BE49-F238E27FC236}">
                <a16:creationId xmlns:a16="http://schemas.microsoft.com/office/drawing/2014/main" id="{CAE3F8C9-0C99-E849-8CC6-F1C4BF6C4C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7BCAB6-5A79-4BB8-E958-309FCEF274B4}"/>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1916848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7B543-125C-F656-CD14-8F8885A669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F4552F-3A5A-947A-BAFB-D0A210475A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329A7F5-84D9-44F5-8F30-6136876789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44035CF-6E2B-0CFD-C421-6FA333180B2F}"/>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6" name="Footer Placeholder 5">
            <a:extLst>
              <a:ext uri="{FF2B5EF4-FFF2-40B4-BE49-F238E27FC236}">
                <a16:creationId xmlns:a16="http://schemas.microsoft.com/office/drawing/2014/main" id="{E0BFB392-81A1-DE58-54A9-1E05C7BA86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2E2AA4-2E1B-5979-270A-8F8033D995F6}"/>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691129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F7053-B3B6-B155-2119-E3BAD238D6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66331F-1FFA-2B2B-9EAA-009C934E61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E224D3-1E73-4309-0294-36F3533F01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0BDEC2-C0ED-09BB-E283-26C3764591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64111A-27F8-BEE4-A7A2-7C05851EAF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3A5AECA-3757-85AC-FB6B-5630B6335B5D}"/>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8" name="Footer Placeholder 7">
            <a:extLst>
              <a:ext uri="{FF2B5EF4-FFF2-40B4-BE49-F238E27FC236}">
                <a16:creationId xmlns:a16="http://schemas.microsoft.com/office/drawing/2014/main" id="{A466653F-1010-6AB2-7141-B1FA163333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C8E257-532A-CBAB-18AB-7458563F1797}"/>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301403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EB359-AEFD-A6F6-E273-7E2EC1E682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EBC928-4A91-B3FD-5DB4-FF40DB2BB7BB}"/>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4" name="Footer Placeholder 3">
            <a:extLst>
              <a:ext uri="{FF2B5EF4-FFF2-40B4-BE49-F238E27FC236}">
                <a16:creationId xmlns:a16="http://schemas.microsoft.com/office/drawing/2014/main" id="{12C422AC-FAB0-727F-5B81-8F80BC5AD23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4DAE34-74ED-3B25-0D0A-481EC61AFEC9}"/>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3340071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39A43A-9052-BBC9-5EE7-4FF90CE7E224}"/>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3" name="Footer Placeholder 2">
            <a:extLst>
              <a:ext uri="{FF2B5EF4-FFF2-40B4-BE49-F238E27FC236}">
                <a16:creationId xmlns:a16="http://schemas.microsoft.com/office/drawing/2014/main" id="{3E0829CC-E95F-CB08-C786-BC62050A6A6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C3D537-4CC4-1B1F-023C-E9B3EF184752}"/>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176377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3799A-EA93-E016-7E79-3A14E6D754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39AE13-100A-DF0A-ADCB-DBF3F5DDB4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7FC3C7-31D2-B51C-22B5-905BDBAA1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984FD5-9590-9E0C-3C71-97859869142B}"/>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6" name="Footer Placeholder 5">
            <a:extLst>
              <a:ext uri="{FF2B5EF4-FFF2-40B4-BE49-F238E27FC236}">
                <a16:creationId xmlns:a16="http://schemas.microsoft.com/office/drawing/2014/main" id="{EA1E3718-D746-5B03-FCCF-2B979354F4F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56F71B-4635-5CA3-A02E-F47A6700129C}"/>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903016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6D8C0-D258-6FAC-6800-4CD8D3C8B9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49031DE-312A-E4B0-EBBE-9B090635DA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DB68558-5459-F9AF-1ABE-2E0FF96A9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97AE87-FE1C-092B-670D-F2AB99426EE8}"/>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6" name="Footer Placeholder 5">
            <a:extLst>
              <a:ext uri="{FF2B5EF4-FFF2-40B4-BE49-F238E27FC236}">
                <a16:creationId xmlns:a16="http://schemas.microsoft.com/office/drawing/2014/main" id="{0EB5FA1E-CEF6-CA3A-4766-62D1BF7977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E65809-7F5E-FF28-18F2-AF569E0539F9}"/>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303435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68A25-BDBA-092D-C38E-75C7F1A181E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959661-CB1D-3EA1-05AD-AABE9A6C14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E06F26-3ECB-CC7D-F4E3-00F7FF0FD93E}"/>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5" name="Footer Placeholder 4">
            <a:extLst>
              <a:ext uri="{FF2B5EF4-FFF2-40B4-BE49-F238E27FC236}">
                <a16:creationId xmlns:a16="http://schemas.microsoft.com/office/drawing/2014/main" id="{7113AE25-0AD2-7A97-E685-94A35AF4E6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7CEE9B-9458-C9E7-B3C0-343A47456C3D}"/>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2256062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D6F9E8-0AE2-5B05-2E76-8FB2F731E0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C2C490-9457-114B-A470-69E661BC8F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4075CF-3D3A-D267-60CF-67414216BE6B}"/>
              </a:ext>
            </a:extLst>
          </p:cNvPr>
          <p:cNvSpPr>
            <a:spLocks noGrp="1"/>
          </p:cNvSpPr>
          <p:nvPr>
            <p:ph type="dt" sz="half" idx="10"/>
          </p:nvPr>
        </p:nvSpPr>
        <p:spPr/>
        <p:txBody>
          <a:bodyPr/>
          <a:lstStyle/>
          <a:p>
            <a:fld id="{168465E6-E3CC-4473-9EB2-8865F8D99C8D}" type="datetimeFigureOut">
              <a:rPr lang="en-IN" smtClean="0"/>
              <a:t>30-03-2026</a:t>
            </a:fld>
            <a:endParaRPr lang="en-IN"/>
          </a:p>
        </p:txBody>
      </p:sp>
      <p:sp>
        <p:nvSpPr>
          <p:cNvPr id="5" name="Footer Placeholder 4">
            <a:extLst>
              <a:ext uri="{FF2B5EF4-FFF2-40B4-BE49-F238E27FC236}">
                <a16:creationId xmlns:a16="http://schemas.microsoft.com/office/drawing/2014/main" id="{C6E3A9C0-CB41-CDCF-B8A6-46767F3546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2D28C7-0C9A-04B8-8F93-8C3BB1A32697}"/>
              </a:ext>
            </a:extLst>
          </p:cNvPr>
          <p:cNvSpPr>
            <a:spLocks noGrp="1"/>
          </p:cNvSpPr>
          <p:nvPr>
            <p:ph type="sldNum" sz="quarter" idx="12"/>
          </p:nvPr>
        </p:nvSpPr>
        <p:spPr/>
        <p:txBody>
          <a:bodyPr/>
          <a:lstStyle/>
          <a:p>
            <a:fld id="{56381D36-D950-41D4-B9BD-26ED9AB4E3E0}" type="slidenum">
              <a:rPr lang="en-IN" smtClean="0"/>
              <a:t>‹#›</a:t>
            </a:fld>
            <a:endParaRPr lang="en-IN"/>
          </a:p>
        </p:txBody>
      </p:sp>
    </p:spTree>
    <p:extLst>
      <p:ext uri="{BB962C8B-B14F-4D97-AF65-F5344CB8AC3E}">
        <p14:creationId xmlns:p14="http://schemas.microsoft.com/office/powerpoint/2010/main" val="1695624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88AAE2-2383-F299-04B6-815C7649F9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03D1F5-3CF4-B4C7-94DC-C77017151A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07877E-5305-6439-FAB6-A40E2AA872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8465E6-E3CC-4473-9EB2-8865F8D99C8D}" type="datetimeFigureOut">
              <a:rPr lang="en-IN" smtClean="0"/>
              <a:t>30-03-2026</a:t>
            </a:fld>
            <a:endParaRPr lang="en-IN"/>
          </a:p>
        </p:txBody>
      </p:sp>
      <p:sp>
        <p:nvSpPr>
          <p:cNvPr id="5" name="Footer Placeholder 4">
            <a:extLst>
              <a:ext uri="{FF2B5EF4-FFF2-40B4-BE49-F238E27FC236}">
                <a16:creationId xmlns:a16="http://schemas.microsoft.com/office/drawing/2014/main" id="{C60F5DA7-DC6A-F878-1F61-9A5A84780F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30CF85E-407C-2D80-E0BD-C7DA327321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381D36-D950-41D4-B9BD-26ED9AB4E3E0}" type="slidenum">
              <a:rPr lang="en-IN" smtClean="0"/>
              <a:t>‹#›</a:t>
            </a:fld>
            <a:endParaRPr lang="en-IN"/>
          </a:p>
        </p:txBody>
      </p:sp>
    </p:spTree>
    <p:extLst>
      <p:ext uri="{BB962C8B-B14F-4D97-AF65-F5344CB8AC3E}">
        <p14:creationId xmlns:p14="http://schemas.microsoft.com/office/powerpoint/2010/main" val="3473024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01D6B-2D1E-0AB8-7EBA-B4A32F5C0060}"/>
              </a:ext>
            </a:extLst>
          </p:cNvPr>
          <p:cNvSpPr>
            <a:spLocks noGrp="1"/>
          </p:cNvSpPr>
          <p:nvPr>
            <p:ph type="ctrTitle"/>
          </p:nvPr>
        </p:nvSpPr>
        <p:spPr/>
        <p:txBody>
          <a:bodyPr>
            <a:normAutofit fontScale="90000"/>
          </a:bodyPr>
          <a:lstStyle/>
          <a:p>
            <a:br>
              <a:rPr lang="en-US" dirty="0"/>
            </a:br>
            <a:br>
              <a:rPr lang="en-US" dirty="0"/>
            </a:br>
            <a:br>
              <a:rPr lang="en-US" dirty="0"/>
            </a:br>
            <a:br>
              <a:rPr lang="en-US" dirty="0"/>
            </a:br>
            <a:endParaRPr lang="en-IN" dirty="0"/>
          </a:p>
        </p:txBody>
      </p:sp>
      <p:sp>
        <p:nvSpPr>
          <p:cNvPr id="3" name="Subtitle 2">
            <a:extLst>
              <a:ext uri="{FF2B5EF4-FFF2-40B4-BE49-F238E27FC236}">
                <a16:creationId xmlns:a16="http://schemas.microsoft.com/office/drawing/2014/main" id="{440F713A-DC2A-47F0-C80D-BEB79E661278}"/>
              </a:ext>
            </a:extLst>
          </p:cNvPr>
          <p:cNvSpPr>
            <a:spLocks noGrp="1"/>
          </p:cNvSpPr>
          <p:nvPr>
            <p:ph type="subTitle" idx="1"/>
          </p:nvPr>
        </p:nvSpPr>
        <p:spPr>
          <a:xfrm>
            <a:off x="477078" y="387627"/>
            <a:ext cx="11022496" cy="6142382"/>
          </a:xfrm>
        </p:spPr>
        <p:txBody>
          <a:bodyPr>
            <a:noAutofit/>
          </a:bodyPr>
          <a:lstStyle/>
          <a:p>
            <a:r>
              <a:rPr lang="en-US" sz="2800" b="1" dirty="0">
                <a:latin typeface="Aptos Display" panose="020B0004020202020204" pitchFamily="34" charset="0"/>
              </a:rPr>
              <a:t>Project Title:</a:t>
            </a:r>
          </a:p>
          <a:p>
            <a:r>
              <a:rPr lang="en-US" sz="2800" dirty="0">
                <a:latin typeface="Aptos Display" panose="020B0004020202020204" pitchFamily="34" charset="0"/>
              </a:rPr>
              <a:t>Software – “Git”.</a:t>
            </a:r>
          </a:p>
          <a:p>
            <a:r>
              <a:rPr lang="en-US" sz="2800" b="1" dirty="0">
                <a:latin typeface="Aptos Display" panose="020B0004020202020204" pitchFamily="34" charset="0"/>
              </a:rPr>
              <a:t>Course Name:</a:t>
            </a:r>
          </a:p>
          <a:p>
            <a:r>
              <a:rPr lang="en-US" sz="2800" dirty="0"/>
              <a:t>Open-Source Software</a:t>
            </a:r>
            <a:r>
              <a:rPr lang="en-US" sz="2800" dirty="0">
                <a:latin typeface="Aptos Display" panose="020B0004020202020204" pitchFamily="34" charset="0"/>
              </a:rPr>
              <a:t>.</a:t>
            </a:r>
          </a:p>
          <a:p>
            <a:r>
              <a:rPr lang="en-US" sz="2800" b="1" dirty="0">
                <a:latin typeface="Aptos Display" panose="020B0004020202020204" pitchFamily="34" charset="0"/>
              </a:rPr>
              <a:t>Subject Code:</a:t>
            </a:r>
          </a:p>
          <a:p>
            <a:r>
              <a:rPr lang="en-US" sz="2800" dirty="0">
                <a:latin typeface="Aptos Display" panose="020B0004020202020204" pitchFamily="34" charset="0"/>
              </a:rPr>
              <a:t>CSE0002.</a:t>
            </a:r>
          </a:p>
          <a:p>
            <a:r>
              <a:rPr lang="en-US" sz="2800" b="1" dirty="0">
                <a:latin typeface="Aptos Display" panose="020B0004020202020204" pitchFamily="34" charset="0"/>
              </a:rPr>
              <a:t>Submitted By:</a:t>
            </a:r>
          </a:p>
          <a:p>
            <a:r>
              <a:rPr lang="en-US" sz="2800">
                <a:latin typeface="Aptos Display" panose="020B0004020202020204" pitchFamily="34" charset="0"/>
              </a:rPr>
              <a:t>DEVESH PANDEY(</a:t>
            </a:r>
            <a:r>
              <a:rPr lang="en-US" sz="2800" dirty="0">
                <a:latin typeface="Aptos Display" panose="020B0004020202020204" pitchFamily="34" charset="0"/>
              </a:rPr>
              <a:t>24BCE10543).</a:t>
            </a:r>
          </a:p>
          <a:p>
            <a:r>
              <a:rPr lang="en-US" sz="2800" b="1" dirty="0">
                <a:latin typeface="Aptos Display" panose="020B0004020202020204" pitchFamily="34" charset="0"/>
              </a:rPr>
              <a:t>Submitted To:</a:t>
            </a:r>
          </a:p>
          <a:p>
            <a:r>
              <a:rPr lang="en-US" sz="2800" dirty="0">
                <a:latin typeface="Aptos Display" panose="020B0004020202020204" pitchFamily="34" charset="0"/>
              </a:rPr>
              <a:t>VIT BHOPAL University.</a:t>
            </a:r>
          </a:p>
          <a:p>
            <a:r>
              <a:rPr lang="en-US" sz="2800" b="1" dirty="0">
                <a:latin typeface="Aptos Display" panose="020B0004020202020204" pitchFamily="34" charset="0"/>
              </a:rPr>
              <a:t>Date of Submission:</a:t>
            </a:r>
          </a:p>
          <a:p>
            <a:r>
              <a:rPr lang="en-US" sz="2800" dirty="0">
                <a:latin typeface="Aptos Display" panose="020B0004020202020204" pitchFamily="34" charset="0"/>
              </a:rPr>
              <a:t>28-03-2026</a:t>
            </a:r>
          </a:p>
          <a:p>
            <a:endParaRPr lang="en-IN" sz="2800" dirty="0">
              <a:latin typeface="Aptos Display" panose="020B0004020202020204" pitchFamily="34" charset="0"/>
            </a:endParaRPr>
          </a:p>
        </p:txBody>
      </p:sp>
    </p:spTree>
    <p:extLst>
      <p:ext uri="{BB962C8B-B14F-4D97-AF65-F5344CB8AC3E}">
        <p14:creationId xmlns:p14="http://schemas.microsoft.com/office/powerpoint/2010/main" val="2656554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7F3CF4-0036-FD03-4904-BF478C6DC466}"/>
              </a:ext>
            </a:extLst>
          </p:cNvPr>
          <p:cNvSpPr txBox="1"/>
          <p:nvPr/>
        </p:nvSpPr>
        <p:spPr>
          <a:xfrm>
            <a:off x="407503" y="139148"/>
            <a:ext cx="10933045" cy="2585323"/>
          </a:xfrm>
          <a:prstGeom prst="rect">
            <a:avLst/>
          </a:prstGeom>
          <a:noFill/>
        </p:spPr>
        <p:txBody>
          <a:bodyPr wrap="square">
            <a:spAutoFit/>
          </a:bodyPr>
          <a:lstStyle/>
          <a:p>
            <a:pPr>
              <a:buNone/>
            </a:pPr>
            <a:r>
              <a:rPr lang="en-US" b="1" dirty="0"/>
              <a:t>1. Introduction</a:t>
            </a:r>
          </a:p>
          <a:p>
            <a:pPr>
              <a:buNone/>
            </a:pPr>
            <a:r>
              <a:rPr lang="en-US" dirty="0"/>
              <a:t>In today’s digital world, almost every piece of software we use is built on top of something that already exists. Behind the scenes, there is a massive ecosystem of tools and technologies that are freely available for anyone to use, modify, and share. This is the essence of open-source software. It is not just a development model but a philosophy that promotes collaboration, transparency, and shared growth.</a:t>
            </a:r>
          </a:p>
          <a:p>
            <a:pPr>
              <a:buNone/>
            </a:pPr>
            <a:r>
              <a:rPr lang="en-US" dirty="0"/>
              <a:t>This project focuses on understanding one such powerful open-source tool: Git. Rather than just looking at what Git does, this report explores why it was created, the problems it solved, the values it represents, and how it fits into the broader open-source ecosystem. Alongside this, practical shell scripts are used to demonstrate interaction with Linux systems, reinforcing the connection between theory and real-world usage.</a:t>
            </a:r>
          </a:p>
        </p:txBody>
      </p:sp>
      <p:sp>
        <p:nvSpPr>
          <p:cNvPr id="7" name="TextBox 6">
            <a:extLst>
              <a:ext uri="{FF2B5EF4-FFF2-40B4-BE49-F238E27FC236}">
                <a16:creationId xmlns:a16="http://schemas.microsoft.com/office/drawing/2014/main" id="{44924FBD-9888-FA75-8805-623ABA7735AC}"/>
              </a:ext>
            </a:extLst>
          </p:cNvPr>
          <p:cNvSpPr txBox="1"/>
          <p:nvPr/>
        </p:nvSpPr>
        <p:spPr>
          <a:xfrm>
            <a:off x="407503" y="4343401"/>
            <a:ext cx="10933045" cy="1230146"/>
          </a:xfrm>
          <a:prstGeom prst="rect">
            <a:avLst/>
          </a:prstGeom>
          <a:noFill/>
        </p:spPr>
        <p:txBody>
          <a:bodyPr wrap="square">
            <a:spAutoFit/>
          </a:bodyPr>
          <a:lstStyle/>
          <a:p>
            <a:pPr>
              <a:buNone/>
            </a:pPr>
            <a:r>
              <a:rPr lang="en-US" b="1" dirty="0"/>
              <a:t>2. Chosen Software: Git</a:t>
            </a:r>
          </a:p>
          <a:p>
            <a:pPr>
              <a:buNone/>
            </a:pPr>
            <a:r>
              <a:rPr lang="en-US" dirty="0"/>
              <a:t>Git is a distributed version. It is widely used across the world and has become a fundamental tool in software development. control system that allows developers to track changes in code, collaborate with others, and manage project history efficiently</a:t>
            </a:r>
          </a:p>
        </p:txBody>
      </p:sp>
    </p:spTree>
    <p:extLst>
      <p:ext uri="{BB962C8B-B14F-4D97-AF65-F5344CB8AC3E}">
        <p14:creationId xmlns:p14="http://schemas.microsoft.com/office/powerpoint/2010/main" val="1247572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E3A0F2-23EE-7A0E-B778-6648DD209222}"/>
              </a:ext>
            </a:extLst>
          </p:cNvPr>
          <p:cNvSpPr txBox="1"/>
          <p:nvPr/>
        </p:nvSpPr>
        <p:spPr>
          <a:xfrm>
            <a:off x="3886199" y="129209"/>
            <a:ext cx="4353339" cy="369332"/>
          </a:xfrm>
          <a:prstGeom prst="rect">
            <a:avLst/>
          </a:prstGeom>
          <a:noFill/>
        </p:spPr>
        <p:txBody>
          <a:bodyPr wrap="square">
            <a:spAutoFit/>
          </a:bodyPr>
          <a:lstStyle/>
          <a:p>
            <a:pPr>
              <a:buNone/>
            </a:pPr>
            <a:r>
              <a:rPr lang="en-US" b="1" dirty="0"/>
              <a:t>PART A — ORIGIN AND PHILOSOPHY</a:t>
            </a:r>
            <a:endParaRPr lang="en-US" dirty="0"/>
          </a:p>
        </p:txBody>
      </p:sp>
      <p:sp>
        <p:nvSpPr>
          <p:cNvPr id="4" name="TextBox 3">
            <a:extLst>
              <a:ext uri="{FF2B5EF4-FFF2-40B4-BE49-F238E27FC236}">
                <a16:creationId xmlns:a16="http://schemas.microsoft.com/office/drawing/2014/main" id="{5A71402A-C6A3-BBE9-45E9-FA558D12535B}"/>
              </a:ext>
            </a:extLst>
          </p:cNvPr>
          <p:cNvSpPr txBox="1"/>
          <p:nvPr/>
        </p:nvSpPr>
        <p:spPr>
          <a:xfrm>
            <a:off x="228599" y="655983"/>
            <a:ext cx="11618844" cy="4524315"/>
          </a:xfrm>
          <a:prstGeom prst="rect">
            <a:avLst/>
          </a:prstGeom>
          <a:noFill/>
        </p:spPr>
        <p:txBody>
          <a:bodyPr wrap="square">
            <a:spAutoFit/>
          </a:bodyPr>
          <a:lstStyle/>
          <a:p>
            <a:pPr>
              <a:buNone/>
            </a:pPr>
            <a:r>
              <a:rPr lang="en-US" b="1" dirty="0"/>
              <a:t>A1. The Problem Git Was Created to Solve</a:t>
            </a:r>
          </a:p>
          <a:p>
            <a:pPr>
              <a:buNone/>
            </a:pPr>
            <a:r>
              <a:rPr lang="en-US" dirty="0"/>
              <a:t>Git was created in 2005 by Linus Torvalds. At that time, the Linux kernel project was being developed by thousands of contributors across the world. Managing such a large and complex project required a reliable version control system.</a:t>
            </a:r>
          </a:p>
          <a:p>
            <a:pPr>
              <a:buNone/>
            </a:pPr>
            <a:r>
              <a:rPr lang="en-US" dirty="0"/>
              <a:t>Initially, developers used a proprietary tool called </a:t>
            </a:r>
            <a:r>
              <a:rPr lang="en-US" dirty="0" err="1"/>
              <a:t>BitKeeper</a:t>
            </a:r>
            <a:r>
              <a:rPr lang="en-US" dirty="0"/>
              <a:t>. However, due to licensing conflicts, access to </a:t>
            </a:r>
            <a:r>
              <a:rPr lang="en-US" dirty="0" err="1"/>
              <a:t>BitKeeper</a:t>
            </a:r>
            <a:r>
              <a:rPr lang="en-US" dirty="0"/>
              <a:t> was revoked for Linux developers. This created a serious problem: there was no free and efficient tool available to manage the development of such a massive project.</a:t>
            </a:r>
          </a:p>
          <a:p>
            <a:pPr>
              <a:buNone/>
            </a:pPr>
            <a:r>
              <a:rPr lang="en-US" dirty="0"/>
              <a:t>Existing version control systems were either too slow, too complex, or not designed to handle distributed collaboration effectively. Linus Torvalds needed a system that was fast, reliable, and allowed developers to work independently without relying on a central server.</a:t>
            </a:r>
          </a:p>
          <a:p>
            <a:pPr>
              <a:buNone/>
            </a:pPr>
            <a:r>
              <a:rPr lang="en-US" dirty="0"/>
              <a:t>In response, he designed Git with the following goals:</a:t>
            </a:r>
          </a:p>
          <a:p>
            <a:pPr>
              <a:buFont typeface="Arial" panose="020B0604020202020204" pitchFamily="34" charset="0"/>
              <a:buChar char="•"/>
            </a:pPr>
            <a:r>
              <a:rPr lang="en-US" dirty="0"/>
              <a:t>High performance </a:t>
            </a:r>
          </a:p>
          <a:p>
            <a:pPr>
              <a:buFont typeface="Arial" panose="020B0604020202020204" pitchFamily="34" charset="0"/>
              <a:buChar char="•"/>
            </a:pPr>
            <a:r>
              <a:rPr lang="en-US" dirty="0"/>
              <a:t>Distributed development </a:t>
            </a:r>
          </a:p>
          <a:p>
            <a:pPr>
              <a:buFont typeface="Arial" panose="020B0604020202020204" pitchFamily="34" charset="0"/>
              <a:buChar char="•"/>
            </a:pPr>
            <a:r>
              <a:rPr lang="en-US" dirty="0"/>
              <a:t>Strong data integrity </a:t>
            </a:r>
          </a:p>
          <a:p>
            <a:pPr>
              <a:buFont typeface="Arial" panose="020B0604020202020204" pitchFamily="34" charset="0"/>
              <a:buChar char="•"/>
            </a:pPr>
            <a:r>
              <a:rPr lang="en-US" dirty="0"/>
              <a:t>Open and free usage </a:t>
            </a:r>
          </a:p>
          <a:p>
            <a:pPr>
              <a:buNone/>
            </a:pPr>
            <a:r>
              <a:rPr lang="en-US" dirty="0"/>
              <a:t>Git was developed in a matter of weeks, and it quickly became the backbone of Linux development. Over time, it evolved into the most widely used version control system in the world.</a:t>
            </a:r>
          </a:p>
        </p:txBody>
      </p:sp>
    </p:spTree>
    <p:extLst>
      <p:ext uri="{BB962C8B-B14F-4D97-AF65-F5344CB8AC3E}">
        <p14:creationId xmlns:p14="http://schemas.microsoft.com/office/powerpoint/2010/main" val="296513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A5DA36-BEA7-EF7E-1184-03770A558FD8}"/>
              </a:ext>
            </a:extLst>
          </p:cNvPr>
          <p:cNvSpPr txBox="1"/>
          <p:nvPr/>
        </p:nvSpPr>
        <p:spPr>
          <a:xfrm>
            <a:off x="119269" y="278296"/>
            <a:ext cx="11777869" cy="5632311"/>
          </a:xfrm>
          <a:prstGeom prst="rect">
            <a:avLst/>
          </a:prstGeom>
          <a:noFill/>
        </p:spPr>
        <p:txBody>
          <a:bodyPr wrap="square">
            <a:spAutoFit/>
          </a:bodyPr>
          <a:lstStyle/>
          <a:p>
            <a:pPr>
              <a:buNone/>
            </a:pPr>
            <a:r>
              <a:rPr lang="en-US" b="1" dirty="0"/>
              <a:t>A2. The License — What It Actually Says</a:t>
            </a:r>
          </a:p>
          <a:p>
            <a:pPr>
              <a:buNone/>
            </a:pPr>
            <a:r>
              <a:rPr lang="en-US" dirty="0"/>
              <a:t>Git is licensed under the GNU General Public License version 2 (GPLv2). This license is designed to ensure that software remains free and open for all users.</a:t>
            </a:r>
          </a:p>
          <a:p>
            <a:pPr>
              <a:buNone/>
            </a:pPr>
            <a:r>
              <a:rPr lang="en-US" dirty="0"/>
              <a:t>The concept of free software is based on four fundamental freedoms:</a:t>
            </a:r>
          </a:p>
          <a:p>
            <a:pPr>
              <a:buFont typeface="+mj-lt"/>
              <a:buAutoNum type="arabicPeriod"/>
            </a:pPr>
            <a:r>
              <a:rPr lang="en-US" dirty="0"/>
              <a:t>The freedom to run the program for any purpose </a:t>
            </a:r>
          </a:p>
          <a:p>
            <a:pPr>
              <a:buFont typeface="+mj-lt"/>
              <a:buAutoNum type="arabicPeriod"/>
            </a:pPr>
            <a:r>
              <a:rPr lang="en-US" dirty="0"/>
              <a:t>The freedom to study how the program works </a:t>
            </a:r>
          </a:p>
          <a:p>
            <a:pPr>
              <a:buFont typeface="+mj-lt"/>
              <a:buAutoNum type="arabicPeriod"/>
            </a:pPr>
            <a:r>
              <a:rPr lang="en-US" dirty="0"/>
              <a:t>The freedom to modify the program </a:t>
            </a:r>
          </a:p>
          <a:p>
            <a:pPr>
              <a:buFont typeface="+mj-lt"/>
              <a:buAutoNum type="arabicPeriod"/>
            </a:pPr>
            <a:r>
              <a:rPr lang="en-US" dirty="0"/>
              <a:t>The freedom to distribute copies, including modified versions </a:t>
            </a:r>
          </a:p>
          <a:p>
            <a:pPr>
              <a:buNone/>
            </a:pPr>
            <a:r>
              <a:rPr lang="en-US" dirty="0"/>
              <a:t>Git’s GPL license grants all four freedoms. However, it also introduces an important condition known as “copyleft.” This means that if someone modifies Git and distributes it, they must also make their modified source code available under the same license.</a:t>
            </a:r>
          </a:p>
          <a:p>
            <a:pPr>
              <a:buNone/>
            </a:pPr>
            <a:r>
              <a:rPr lang="en-US" dirty="0"/>
              <a:t>A company can take Git, modify it, and even sell it, but they cannot make it proprietary. They are required to share their changes with the community.</a:t>
            </a:r>
          </a:p>
          <a:p>
            <a:pPr>
              <a:buNone/>
            </a:pPr>
            <a:r>
              <a:rPr lang="en-US" dirty="0"/>
              <a:t>When comparing GPL with a more permissive license like MIT, the difference becomes clear. The MIT license allows developers to modify software and even keep their changes private. In contrast, GPL enforces openness by requiring modifications to be shared.</a:t>
            </a:r>
          </a:p>
          <a:p>
            <a:pPr>
              <a:buNone/>
            </a:pPr>
            <a:r>
              <a:rPr lang="en-US" dirty="0"/>
              <a:t>Another important distinction is between “free as in free beer” and “free as in freedom.” Git represents both—it is free to use and also provides the freedom to modify and distribute.</a:t>
            </a:r>
          </a:p>
          <a:p>
            <a:pPr>
              <a:buNone/>
            </a:pPr>
            <a:r>
              <a:rPr lang="en-US" dirty="0"/>
              <a:t>Personally, the GPL license feels more aligned with the idea of long-term collaboration because it ensures that improvements benefit everyone, not just individual companies.</a:t>
            </a:r>
          </a:p>
        </p:txBody>
      </p:sp>
    </p:spTree>
    <p:extLst>
      <p:ext uri="{BB962C8B-B14F-4D97-AF65-F5344CB8AC3E}">
        <p14:creationId xmlns:p14="http://schemas.microsoft.com/office/powerpoint/2010/main" val="178627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5E6F92-A302-8F17-99A6-205D0A4955EA}"/>
              </a:ext>
            </a:extLst>
          </p:cNvPr>
          <p:cNvSpPr txBox="1"/>
          <p:nvPr/>
        </p:nvSpPr>
        <p:spPr>
          <a:xfrm>
            <a:off x="278295" y="268357"/>
            <a:ext cx="11022495" cy="3970318"/>
          </a:xfrm>
          <a:prstGeom prst="rect">
            <a:avLst/>
          </a:prstGeom>
          <a:noFill/>
        </p:spPr>
        <p:txBody>
          <a:bodyPr wrap="square">
            <a:spAutoFit/>
          </a:bodyPr>
          <a:lstStyle/>
          <a:p>
            <a:pPr>
              <a:buNone/>
            </a:pPr>
            <a:r>
              <a:rPr lang="en-US" b="1" dirty="0"/>
              <a:t>A3. The Ethics of Open Source</a:t>
            </a:r>
          </a:p>
          <a:p>
            <a:pPr>
              <a:buNone/>
            </a:pPr>
            <a:r>
              <a:rPr lang="en-US" dirty="0"/>
              <a:t>Open source is more than just a technical approach; it reflects a philosophy about how knowledge should be shared. It encourages collaboration and allows individuals to build upon each other’s work.</a:t>
            </a:r>
          </a:p>
          <a:p>
            <a:pPr>
              <a:buNone/>
            </a:pPr>
            <a:r>
              <a:rPr lang="en-US" dirty="0"/>
              <a:t>One important question is whether all software should be open source. On one hand, open source promotes innovation, transparency, and accessibility. On the other hand, companies invest significant resources into development, and keeping software proprietary can be necessary for business sustainability.</a:t>
            </a:r>
          </a:p>
          <a:p>
            <a:pPr>
              <a:buNone/>
            </a:pPr>
            <a:r>
              <a:rPr lang="en-US" dirty="0"/>
              <a:t>Another ethical concern is whether it is fair for companies to build profitable products on top of free community-driven software. Many large organizations rely heavily on open-source tools while contributing back in varying degrees. This creates a balance between community contribution and commercial benefit.</a:t>
            </a:r>
          </a:p>
          <a:p>
            <a:pPr>
              <a:buNone/>
            </a:pPr>
            <a:r>
              <a:rPr lang="en-US" dirty="0"/>
              <a:t>The idea of “standing on the shoulders of giants” is very relevant here. It means that modern developers build on the work of those who came before them. Open source makes this possible by removing barriers to knowledge and innovation.</a:t>
            </a:r>
          </a:p>
          <a:p>
            <a:pPr>
              <a:buNone/>
            </a:pPr>
            <a:r>
              <a:rPr lang="en-US" dirty="0"/>
              <a:t>In my view, open source does not reduce originality—it enhances it. By providing a strong foundation, it allows developers to focus on solving new problems rather than reinventing existing solutions.</a:t>
            </a:r>
          </a:p>
        </p:txBody>
      </p:sp>
    </p:spTree>
    <p:extLst>
      <p:ext uri="{BB962C8B-B14F-4D97-AF65-F5344CB8AC3E}">
        <p14:creationId xmlns:p14="http://schemas.microsoft.com/office/powerpoint/2010/main" val="1262140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53F0C6-10E6-CBDF-2F09-F7D4CC3E44E0}"/>
              </a:ext>
            </a:extLst>
          </p:cNvPr>
          <p:cNvSpPr txBox="1"/>
          <p:nvPr/>
        </p:nvSpPr>
        <p:spPr>
          <a:xfrm>
            <a:off x="417443" y="248478"/>
            <a:ext cx="10555357" cy="5078313"/>
          </a:xfrm>
          <a:prstGeom prst="rect">
            <a:avLst/>
          </a:prstGeom>
          <a:noFill/>
        </p:spPr>
        <p:txBody>
          <a:bodyPr wrap="square">
            <a:spAutoFit/>
          </a:bodyPr>
          <a:lstStyle/>
          <a:p>
            <a:pPr>
              <a:buNone/>
            </a:pPr>
            <a:r>
              <a:rPr lang="en-US" b="1" dirty="0"/>
              <a:t>                                                                               PART B — LINUX FOOTPRINT</a:t>
            </a:r>
          </a:p>
          <a:p>
            <a:pPr>
              <a:buNone/>
            </a:pPr>
            <a:r>
              <a:rPr lang="en-US" dirty="0"/>
              <a:t>Git integrates seamlessly into Linux systems and behaves more like a command-line tool than a background service.</a:t>
            </a:r>
          </a:p>
          <a:p>
            <a:pPr>
              <a:buNone/>
            </a:pPr>
            <a:r>
              <a:rPr lang="en-US" b="1" dirty="0"/>
              <a:t>Installation</a:t>
            </a:r>
          </a:p>
          <a:p>
            <a:pPr>
              <a:buNone/>
            </a:pPr>
            <a:r>
              <a:rPr lang="en-US" dirty="0"/>
              <a:t>Git can be installed using package managers such as apt:</a:t>
            </a:r>
          </a:p>
          <a:p>
            <a:pPr rtl="0">
              <a:buNone/>
            </a:pPr>
            <a:r>
              <a:rPr lang="en-US" dirty="0" err="1">
                <a:latin typeface="Courier New" panose="02070309020205020404" pitchFamily="49" charset="0"/>
              </a:rPr>
              <a:t>sudo</a:t>
            </a:r>
            <a:r>
              <a:rPr lang="en-US" dirty="0">
                <a:latin typeface="Courier New" panose="02070309020205020404" pitchFamily="49" charset="0"/>
              </a:rPr>
              <a:t> apt install git</a:t>
            </a:r>
          </a:p>
          <a:p>
            <a:pPr>
              <a:buNone/>
            </a:pPr>
            <a:r>
              <a:rPr lang="en-US" b="1" dirty="0"/>
              <a:t>File Locations</a:t>
            </a:r>
          </a:p>
          <a:p>
            <a:pPr>
              <a:buFont typeface="Arial" panose="020B0604020202020204" pitchFamily="34" charset="0"/>
              <a:buChar char="•"/>
            </a:pPr>
            <a:r>
              <a:rPr lang="en-US" dirty="0"/>
              <a:t>Binary: </a:t>
            </a:r>
            <a:r>
              <a:rPr lang="en-US" dirty="0">
                <a:latin typeface="Courier New" panose="02070309020205020404" pitchFamily="49" charset="0"/>
              </a:rPr>
              <a:t>/</a:t>
            </a:r>
            <a:r>
              <a:rPr lang="en-US" dirty="0" err="1">
                <a:latin typeface="Courier New" panose="02070309020205020404" pitchFamily="49" charset="0"/>
              </a:rPr>
              <a:t>usr</a:t>
            </a:r>
            <a:r>
              <a:rPr lang="en-US" dirty="0">
                <a:latin typeface="Courier New" panose="02070309020205020404" pitchFamily="49" charset="0"/>
              </a:rPr>
              <a:t>/bin/git</a:t>
            </a:r>
            <a:r>
              <a:rPr lang="en-US" dirty="0"/>
              <a:t> </a:t>
            </a:r>
          </a:p>
          <a:p>
            <a:pPr>
              <a:buFont typeface="Arial" panose="020B0604020202020204" pitchFamily="34" charset="0"/>
              <a:buChar char="•"/>
            </a:pPr>
            <a:r>
              <a:rPr lang="en-US" dirty="0"/>
              <a:t>Configuration file: </a:t>
            </a:r>
            <a:r>
              <a:rPr lang="en-US" dirty="0">
                <a:latin typeface="Courier New" panose="02070309020205020404" pitchFamily="49" charset="0"/>
              </a:rPr>
              <a:t>~/.</a:t>
            </a:r>
            <a:r>
              <a:rPr lang="en-US" dirty="0" err="1">
                <a:latin typeface="Courier New" panose="02070309020205020404" pitchFamily="49" charset="0"/>
              </a:rPr>
              <a:t>gitconfig</a:t>
            </a:r>
            <a:r>
              <a:rPr lang="en-US" dirty="0"/>
              <a:t> </a:t>
            </a:r>
          </a:p>
          <a:p>
            <a:pPr>
              <a:buNone/>
            </a:pPr>
            <a:r>
              <a:rPr lang="en-US" b="1" dirty="0"/>
              <a:t>Execution Model</a:t>
            </a:r>
          </a:p>
          <a:p>
            <a:pPr>
              <a:buNone/>
            </a:pPr>
            <a:r>
              <a:rPr lang="en-US" dirty="0"/>
              <a:t>Git runs as a user-level application. It does not require a dedicated system service or daemon. This makes it lightweight and easy to use.</a:t>
            </a:r>
          </a:p>
          <a:p>
            <a:pPr>
              <a:buNone/>
            </a:pPr>
            <a:r>
              <a:rPr lang="en-US" b="1" dirty="0"/>
              <a:t>Security</a:t>
            </a:r>
          </a:p>
          <a:p>
            <a:pPr>
              <a:buNone/>
            </a:pPr>
            <a:r>
              <a:rPr lang="en-US" dirty="0"/>
              <a:t>Since Git operates under the current user, it respects Linux file permissions. This ensures that access to repositories and files is controlled by the system’s permission structure.</a:t>
            </a:r>
          </a:p>
          <a:p>
            <a:pPr>
              <a:buNone/>
            </a:pPr>
            <a:r>
              <a:rPr lang="en-US" b="1" dirty="0"/>
              <a:t>Updates</a:t>
            </a:r>
          </a:p>
          <a:p>
            <a:pPr>
              <a:buNone/>
            </a:pPr>
            <a:r>
              <a:rPr lang="en-US" dirty="0"/>
              <a:t>Git is updated through the system’s package manager, which allows users to receive security patches and improvements from the open-source community.</a:t>
            </a:r>
          </a:p>
        </p:txBody>
      </p:sp>
    </p:spTree>
    <p:extLst>
      <p:ext uri="{BB962C8B-B14F-4D97-AF65-F5344CB8AC3E}">
        <p14:creationId xmlns:p14="http://schemas.microsoft.com/office/powerpoint/2010/main" val="3066951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0F8F24-252E-8CA8-253B-77DEFF9DC569}"/>
              </a:ext>
            </a:extLst>
          </p:cNvPr>
          <p:cNvSpPr txBox="1"/>
          <p:nvPr/>
        </p:nvSpPr>
        <p:spPr>
          <a:xfrm>
            <a:off x="288234" y="337930"/>
            <a:ext cx="11370365" cy="3139321"/>
          </a:xfrm>
          <a:prstGeom prst="rect">
            <a:avLst/>
          </a:prstGeom>
          <a:noFill/>
        </p:spPr>
        <p:txBody>
          <a:bodyPr wrap="square">
            <a:spAutoFit/>
          </a:bodyPr>
          <a:lstStyle/>
          <a:p>
            <a:r>
              <a:rPr lang="en-US" b="1" dirty="0"/>
              <a:t>                                                                            PART C — THE FOSS ECOSYSTEM</a:t>
            </a:r>
          </a:p>
          <a:p>
            <a:r>
              <a:rPr lang="en-US" dirty="0"/>
              <a:t>Git does not exist in isolation. It is part of a large ecosystem of tools and platforms.</a:t>
            </a:r>
          </a:p>
          <a:p>
            <a:r>
              <a:rPr lang="en-US" dirty="0"/>
              <a:t>Platforms like GitHub and GitLab are built on top of Git and provide additional features such as collaboration, issue tracking, and continuous integration.</a:t>
            </a:r>
          </a:p>
          <a:p>
            <a:r>
              <a:rPr lang="en-US" dirty="0"/>
              <a:t>Git is used in almost every area of software development, including web development, mobile applications, and system programming. It also integrates with many other tools such as compilers, editors, and deployment systems.</a:t>
            </a:r>
          </a:p>
          <a:p>
            <a:r>
              <a:rPr lang="en-US" dirty="0"/>
              <a:t>The Git community is global and highly active. Contributions come from individuals, organizations, and large tech companies. Development is managed through mailing lists, repositories, and open discussions, ensuring transparency and collaboration.</a:t>
            </a:r>
          </a:p>
          <a:p>
            <a:endParaRPr lang="en-US" dirty="0"/>
          </a:p>
        </p:txBody>
      </p:sp>
      <p:graphicFrame>
        <p:nvGraphicFramePr>
          <p:cNvPr id="2" name="Table 1">
            <a:extLst>
              <a:ext uri="{FF2B5EF4-FFF2-40B4-BE49-F238E27FC236}">
                <a16:creationId xmlns:a16="http://schemas.microsoft.com/office/drawing/2014/main" id="{29DD00A2-86CD-5875-EBB6-0230B642F4CB}"/>
              </a:ext>
            </a:extLst>
          </p:cNvPr>
          <p:cNvGraphicFramePr>
            <a:graphicFrameLocks noGrp="1"/>
          </p:cNvGraphicFramePr>
          <p:nvPr>
            <p:extLst>
              <p:ext uri="{D42A27DB-BD31-4B8C-83A1-F6EECF244321}">
                <p14:modId xmlns:p14="http://schemas.microsoft.com/office/powerpoint/2010/main" val="3012137774"/>
              </p:ext>
            </p:extLst>
          </p:nvPr>
        </p:nvGraphicFramePr>
        <p:xfrm>
          <a:off x="1252329" y="3086891"/>
          <a:ext cx="9173820" cy="1859280"/>
        </p:xfrm>
        <a:graphic>
          <a:graphicData uri="http://schemas.openxmlformats.org/drawingml/2006/table">
            <a:tbl>
              <a:tblPr/>
              <a:tblGrid>
                <a:gridCol w="3057940">
                  <a:extLst>
                    <a:ext uri="{9D8B030D-6E8A-4147-A177-3AD203B41FA5}">
                      <a16:colId xmlns:a16="http://schemas.microsoft.com/office/drawing/2014/main" val="10860290"/>
                    </a:ext>
                  </a:extLst>
                </a:gridCol>
                <a:gridCol w="3057940">
                  <a:extLst>
                    <a:ext uri="{9D8B030D-6E8A-4147-A177-3AD203B41FA5}">
                      <a16:colId xmlns:a16="http://schemas.microsoft.com/office/drawing/2014/main" val="1566750538"/>
                    </a:ext>
                  </a:extLst>
                </a:gridCol>
                <a:gridCol w="3057940">
                  <a:extLst>
                    <a:ext uri="{9D8B030D-6E8A-4147-A177-3AD203B41FA5}">
                      <a16:colId xmlns:a16="http://schemas.microsoft.com/office/drawing/2014/main" val="1108653489"/>
                    </a:ext>
                  </a:extLst>
                </a:gridCol>
              </a:tblGrid>
              <a:tr h="0">
                <a:tc>
                  <a:txBody>
                    <a:bodyPr/>
                    <a:lstStyle/>
                    <a:p>
                      <a:pPr>
                        <a:buNone/>
                      </a:pPr>
                      <a:endParaRPr lang="en-IN"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830755941"/>
                  </a:ext>
                </a:extLst>
              </a:tr>
              <a:tr h="200117">
                <a:tc>
                  <a:txBody>
                    <a:bodyPr/>
                    <a:lstStyle/>
                    <a:p>
                      <a:pPr>
                        <a:buNone/>
                      </a:pPr>
                      <a:endParaRPr lang="en-IN"/>
                    </a:p>
                  </a:txBody>
                  <a:tcPr anchor="ctr">
                    <a:lnL>
                      <a:noFill/>
                    </a:lnL>
                    <a:lnR>
                      <a:noFill/>
                    </a:lnR>
                    <a:lnT>
                      <a:noFill/>
                    </a:lnT>
                    <a:lnB>
                      <a:noFill/>
                    </a:lnB>
                    <a:noFill/>
                  </a:tcPr>
                </a:tc>
                <a:tc>
                  <a:txBody>
                    <a:bodyPr/>
                    <a:lstStyle/>
                    <a:p>
                      <a:pPr>
                        <a:buNone/>
                      </a:pPr>
                      <a:endParaRPr lang="en-IN" sz="2000" dirty="0">
                        <a:latin typeface="Arial Black" panose="020B0A04020102020204" pitchFamily="34" charset="0"/>
                      </a:endParaRP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807304281"/>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449266552"/>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224530816"/>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4129740535"/>
                  </a:ext>
                </a:extLst>
              </a:tr>
            </a:tbl>
          </a:graphicData>
        </a:graphic>
      </p:graphicFrame>
    </p:spTree>
    <p:extLst>
      <p:ext uri="{BB962C8B-B14F-4D97-AF65-F5344CB8AC3E}">
        <p14:creationId xmlns:p14="http://schemas.microsoft.com/office/powerpoint/2010/main" val="1501550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A3A6AC-EEA8-FBE3-C317-0FA079351D30}"/>
              </a:ext>
            </a:extLst>
          </p:cNvPr>
          <p:cNvSpPr txBox="1"/>
          <p:nvPr/>
        </p:nvSpPr>
        <p:spPr>
          <a:xfrm>
            <a:off x="288234" y="198783"/>
            <a:ext cx="9007336" cy="830997"/>
          </a:xfrm>
          <a:prstGeom prst="rect">
            <a:avLst/>
          </a:prstGeom>
          <a:noFill/>
        </p:spPr>
        <p:txBody>
          <a:bodyPr wrap="square">
            <a:spAutoFit/>
          </a:bodyPr>
          <a:lstStyle/>
          <a:p>
            <a:r>
              <a:rPr lang="en-US" sz="2400" dirty="0">
                <a:latin typeface="Arial Black" panose="020B0A04020102020204" pitchFamily="34" charset="0"/>
              </a:rPr>
              <a:t>              PART D — OPEN SOURCE VS PROPRIETARY</a:t>
            </a:r>
            <a:endParaRPr lang="en-IN" sz="2400" dirty="0">
              <a:latin typeface="Arial Black" panose="020B0A04020102020204" pitchFamily="34" charset="0"/>
            </a:endParaRPr>
          </a:p>
          <a:p>
            <a:endParaRPr lang="en-IN" sz="2400" u="sng" dirty="0">
              <a:latin typeface="Arial Black" panose="020B0A04020102020204" pitchFamily="34" charset="0"/>
            </a:endParaRPr>
          </a:p>
        </p:txBody>
      </p:sp>
      <p:sp>
        <p:nvSpPr>
          <p:cNvPr id="4" name="TextBox 3">
            <a:extLst>
              <a:ext uri="{FF2B5EF4-FFF2-40B4-BE49-F238E27FC236}">
                <a16:creationId xmlns:a16="http://schemas.microsoft.com/office/drawing/2014/main" id="{6E8B3CE4-D60A-4FD0-E9E6-EEE504DC0C0D}"/>
              </a:ext>
            </a:extLst>
          </p:cNvPr>
          <p:cNvSpPr txBox="1"/>
          <p:nvPr/>
        </p:nvSpPr>
        <p:spPr>
          <a:xfrm>
            <a:off x="288235" y="4542182"/>
            <a:ext cx="11340548" cy="2031325"/>
          </a:xfrm>
          <a:prstGeom prst="rect">
            <a:avLst/>
          </a:prstGeom>
          <a:noFill/>
        </p:spPr>
        <p:txBody>
          <a:bodyPr wrap="square">
            <a:spAutoFit/>
          </a:bodyPr>
          <a:lstStyle/>
          <a:p>
            <a:pPr>
              <a:buNone/>
            </a:pPr>
            <a:r>
              <a:rPr lang="en-US" b="1" dirty="0"/>
              <a:t>Conclusion:</a:t>
            </a:r>
          </a:p>
          <a:p>
            <a:pPr>
              <a:buNone/>
            </a:pPr>
            <a:r>
              <a:rPr lang="en-US" dirty="0"/>
              <a:t>Git provides a level of flexibility and freedom that proprietary tools cannot match. It allows developers to fully control their workflow and adapt the tool to their needs. While proprietary tools may offer dedicated support and polished interfaces, Git’s openness and community support make it a more powerful and sustainable choice.</a:t>
            </a:r>
          </a:p>
          <a:p>
            <a:pPr>
              <a:buNone/>
            </a:pPr>
            <a:r>
              <a:rPr lang="en-US" dirty="0"/>
              <a:t>Based on this analysis, Git is highly recommended for real-world use. It is reliable, efficient, and widely supported. Given the opportunity, contributing to Git or its ecosystem would be a meaningful way to participate in the open-source community.</a:t>
            </a:r>
          </a:p>
        </p:txBody>
      </p:sp>
      <p:graphicFrame>
        <p:nvGraphicFramePr>
          <p:cNvPr id="5" name="Table 4">
            <a:extLst>
              <a:ext uri="{FF2B5EF4-FFF2-40B4-BE49-F238E27FC236}">
                <a16:creationId xmlns:a16="http://schemas.microsoft.com/office/drawing/2014/main" id="{77EC79E2-F444-E2D2-5A7C-C51D075F10D3}"/>
              </a:ext>
            </a:extLst>
          </p:cNvPr>
          <p:cNvGraphicFramePr>
            <a:graphicFrameLocks noGrp="1"/>
          </p:cNvGraphicFramePr>
          <p:nvPr>
            <p:extLst>
              <p:ext uri="{D42A27DB-BD31-4B8C-83A1-F6EECF244321}">
                <p14:modId xmlns:p14="http://schemas.microsoft.com/office/powerpoint/2010/main" val="3638047132"/>
              </p:ext>
            </p:extLst>
          </p:nvPr>
        </p:nvGraphicFramePr>
        <p:xfrm>
          <a:off x="1212574" y="805070"/>
          <a:ext cx="7484166" cy="3526758"/>
        </p:xfrm>
        <a:graphic>
          <a:graphicData uri="http://schemas.openxmlformats.org/drawingml/2006/table">
            <a:tbl>
              <a:tblPr firstRow="1" bandRow="1">
                <a:tableStyleId>{5C22544A-7EE6-4342-B048-85BDC9FD1C3A}</a:tableStyleId>
              </a:tblPr>
              <a:tblGrid>
                <a:gridCol w="2494722">
                  <a:extLst>
                    <a:ext uri="{9D8B030D-6E8A-4147-A177-3AD203B41FA5}">
                      <a16:colId xmlns:a16="http://schemas.microsoft.com/office/drawing/2014/main" val="308753518"/>
                    </a:ext>
                  </a:extLst>
                </a:gridCol>
                <a:gridCol w="2494722">
                  <a:extLst>
                    <a:ext uri="{9D8B030D-6E8A-4147-A177-3AD203B41FA5}">
                      <a16:colId xmlns:a16="http://schemas.microsoft.com/office/drawing/2014/main" val="947309633"/>
                    </a:ext>
                  </a:extLst>
                </a:gridCol>
                <a:gridCol w="2494722">
                  <a:extLst>
                    <a:ext uri="{9D8B030D-6E8A-4147-A177-3AD203B41FA5}">
                      <a16:colId xmlns:a16="http://schemas.microsoft.com/office/drawing/2014/main" val="985644074"/>
                    </a:ext>
                  </a:extLst>
                </a:gridCol>
              </a:tblGrid>
              <a:tr h="854324">
                <a:tc>
                  <a:txBody>
                    <a:bodyPr/>
                    <a:lstStyle/>
                    <a:p>
                      <a:pPr>
                        <a:buNone/>
                      </a:pPr>
                      <a:r>
                        <a:rPr lang="en-IN" dirty="0"/>
                        <a:t>Dimension</a:t>
                      </a:r>
                    </a:p>
                  </a:txBody>
                  <a:tcPr anchor="ctr"/>
                </a:tc>
                <a:tc>
                  <a:txBody>
                    <a:bodyPr/>
                    <a:lstStyle/>
                    <a:p>
                      <a:pPr>
                        <a:buNone/>
                      </a:pPr>
                      <a:r>
                        <a:rPr lang="en-IN"/>
                        <a:t>Git (Open Source)</a:t>
                      </a:r>
                    </a:p>
                  </a:txBody>
                  <a:tcPr anchor="ctr"/>
                </a:tc>
                <a:tc>
                  <a:txBody>
                    <a:bodyPr/>
                    <a:lstStyle/>
                    <a:p>
                      <a:pPr>
                        <a:buNone/>
                      </a:pPr>
                      <a:r>
                        <a:rPr lang="en-IN"/>
                        <a:t>Proprietary Tools</a:t>
                      </a:r>
                    </a:p>
                  </a:txBody>
                  <a:tcPr anchor="ctr"/>
                </a:tc>
                <a:extLst>
                  <a:ext uri="{0D108BD9-81ED-4DB2-BD59-A6C34878D82A}">
                    <a16:rowId xmlns:a16="http://schemas.microsoft.com/office/drawing/2014/main" val="1680046264"/>
                  </a:ext>
                </a:extLst>
              </a:tr>
              <a:tr h="355707">
                <a:tc>
                  <a:txBody>
                    <a:bodyPr/>
                    <a:lstStyle/>
                    <a:p>
                      <a:pPr>
                        <a:buNone/>
                      </a:pPr>
                      <a:r>
                        <a:rPr lang="en-IN" dirty="0"/>
                        <a:t>Cost</a:t>
                      </a:r>
                    </a:p>
                  </a:txBody>
                  <a:tcPr anchor="ctr"/>
                </a:tc>
                <a:tc>
                  <a:txBody>
                    <a:bodyPr/>
                    <a:lstStyle/>
                    <a:p>
                      <a:pPr>
                        <a:buNone/>
                      </a:pPr>
                      <a:r>
                        <a:rPr lang="en-IN"/>
                        <a:t>Free</a:t>
                      </a:r>
                    </a:p>
                  </a:txBody>
                  <a:tcPr anchor="ctr"/>
                </a:tc>
                <a:tc>
                  <a:txBody>
                    <a:bodyPr/>
                    <a:lstStyle/>
                    <a:p>
                      <a:pPr>
                        <a:buNone/>
                      </a:pPr>
                      <a:r>
                        <a:rPr lang="en-IN"/>
                        <a:t>Paid</a:t>
                      </a:r>
                    </a:p>
                  </a:txBody>
                  <a:tcPr anchor="ctr"/>
                </a:tc>
                <a:extLst>
                  <a:ext uri="{0D108BD9-81ED-4DB2-BD59-A6C34878D82A}">
                    <a16:rowId xmlns:a16="http://schemas.microsoft.com/office/drawing/2014/main" val="994628825"/>
                  </a:ext>
                </a:extLst>
              </a:tr>
              <a:tr h="598026">
                <a:tc>
                  <a:txBody>
                    <a:bodyPr/>
                    <a:lstStyle/>
                    <a:p>
                      <a:pPr>
                        <a:buNone/>
                      </a:pPr>
                      <a:r>
                        <a:rPr lang="en-IN"/>
                        <a:t>Security</a:t>
                      </a:r>
                    </a:p>
                  </a:txBody>
                  <a:tcPr anchor="ctr"/>
                </a:tc>
                <a:tc>
                  <a:txBody>
                    <a:bodyPr/>
                    <a:lstStyle/>
                    <a:p>
                      <a:pPr>
                        <a:buNone/>
                      </a:pPr>
                      <a:r>
                        <a:rPr lang="en-IN"/>
                        <a:t>Open to audit</a:t>
                      </a:r>
                    </a:p>
                  </a:txBody>
                  <a:tcPr anchor="ctr"/>
                </a:tc>
                <a:tc>
                  <a:txBody>
                    <a:bodyPr/>
                    <a:lstStyle/>
                    <a:p>
                      <a:pPr>
                        <a:buNone/>
                      </a:pPr>
                      <a:r>
                        <a:rPr lang="en-IN"/>
                        <a:t>Closed source</a:t>
                      </a:r>
                    </a:p>
                  </a:txBody>
                  <a:tcPr anchor="ctr"/>
                </a:tc>
                <a:extLst>
                  <a:ext uri="{0D108BD9-81ED-4DB2-BD59-A6C34878D82A}">
                    <a16:rowId xmlns:a16="http://schemas.microsoft.com/office/drawing/2014/main" val="3698718185"/>
                  </a:ext>
                </a:extLst>
              </a:tr>
              <a:tr h="598026">
                <a:tc>
                  <a:txBody>
                    <a:bodyPr/>
                    <a:lstStyle/>
                    <a:p>
                      <a:pPr>
                        <a:buNone/>
                      </a:pPr>
                      <a:r>
                        <a:rPr lang="en-IN"/>
                        <a:t>Flexibility</a:t>
                      </a:r>
                    </a:p>
                  </a:txBody>
                  <a:tcPr anchor="ctr"/>
                </a:tc>
                <a:tc>
                  <a:txBody>
                    <a:bodyPr/>
                    <a:lstStyle/>
                    <a:p>
                      <a:pPr>
                        <a:buNone/>
                      </a:pPr>
                      <a:r>
                        <a:rPr lang="en-IN"/>
                        <a:t>High</a:t>
                      </a:r>
                    </a:p>
                  </a:txBody>
                  <a:tcPr anchor="ctr"/>
                </a:tc>
                <a:tc>
                  <a:txBody>
                    <a:bodyPr/>
                    <a:lstStyle/>
                    <a:p>
                      <a:pPr>
                        <a:buNone/>
                      </a:pPr>
                      <a:r>
                        <a:rPr lang="en-IN" dirty="0"/>
                        <a:t>Limited</a:t>
                      </a:r>
                    </a:p>
                  </a:txBody>
                  <a:tcPr anchor="ctr"/>
                </a:tc>
                <a:extLst>
                  <a:ext uri="{0D108BD9-81ED-4DB2-BD59-A6C34878D82A}">
                    <a16:rowId xmlns:a16="http://schemas.microsoft.com/office/drawing/2014/main" val="930342746"/>
                  </a:ext>
                </a:extLst>
              </a:tr>
              <a:tr h="1110622">
                <a:tc>
                  <a:txBody>
                    <a:bodyPr/>
                    <a:lstStyle/>
                    <a:p>
                      <a:pPr>
                        <a:buNone/>
                      </a:pPr>
                      <a:r>
                        <a:rPr lang="en-IN" dirty="0"/>
                        <a:t>Control</a:t>
                      </a:r>
                    </a:p>
                  </a:txBody>
                  <a:tcPr anchor="ctr"/>
                </a:tc>
                <a:tc>
                  <a:txBody>
                    <a:bodyPr/>
                    <a:lstStyle/>
                    <a:p>
                      <a:pPr>
                        <a:buNone/>
                      </a:pPr>
                      <a:r>
                        <a:rPr lang="en-IN"/>
                        <a:t>Community-driven</a:t>
                      </a:r>
                    </a:p>
                  </a:txBody>
                  <a:tcPr anchor="ctr"/>
                </a:tc>
                <a:tc>
                  <a:txBody>
                    <a:bodyPr/>
                    <a:lstStyle/>
                    <a:p>
                      <a:pPr>
                        <a:buNone/>
                      </a:pPr>
                      <a:r>
                        <a:rPr lang="en-IN" dirty="0"/>
                        <a:t>Company-controlled</a:t>
                      </a:r>
                    </a:p>
                  </a:txBody>
                  <a:tcPr anchor="ctr"/>
                </a:tc>
                <a:extLst>
                  <a:ext uri="{0D108BD9-81ED-4DB2-BD59-A6C34878D82A}">
                    <a16:rowId xmlns:a16="http://schemas.microsoft.com/office/drawing/2014/main" val="2410477862"/>
                  </a:ext>
                </a:extLst>
              </a:tr>
            </a:tbl>
          </a:graphicData>
        </a:graphic>
      </p:graphicFrame>
    </p:spTree>
    <p:extLst>
      <p:ext uri="{BB962C8B-B14F-4D97-AF65-F5344CB8AC3E}">
        <p14:creationId xmlns:p14="http://schemas.microsoft.com/office/powerpoint/2010/main" val="4099622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F15ECB-2E1D-BF26-423A-5AC04C98CCEA}"/>
              </a:ext>
            </a:extLst>
          </p:cNvPr>
          <p:cNvSpPr txBox="1"/>
          <p:nvPr/>
        </p:nvSpPr>
        <p:spPr>
          <a:xfrm>
            <a:off x="3776870" y="89452"/>
            <a:ext cx="6681579" cy="461665"/>
          </a:xfrm>
          <a:prstGeom prst="rect">
            <a:avLst/>
          </a:prstGeom>
          <a:noFill/>
        </p:spPr>
        <p:txBody>
          <a:bodyPr wrap="square">
            <a:spAutoFit/>
          </a:bodyPr>
          <a:lstStyle/>
          <a:p>
            <a:r>
              <a:rPr lang="en-IN" sz="2400">
                <a:latin typeface="Arial Black" panose="020B0A04020102020204" pitchFamily="34" charset="0"/>
              </a:rPr>
              <a:t>4. SHELL SCRIPTS</a:t>
            </a:r>
            <a:endParaRPr lang="en-IN" sz="2400" dirty="0">
              <a:latin typeface="Arial Black" panose="020B0A04020102020204" pitchFamily="34" charset="0"/>
            </a:endParaRPr>
          </a:p>
        </p:txBody>
      </p:sp>
      <p:sp>
        <p:nvSpPr>
          <p:cNvPr id="7" name="TextBox 6">
            <a:extLst>
              <a:ext uri="{FF2B5EF4-FFF2-40B4-BE49-F238E27FC236}">
                <a16:creationId xmlns:a16="http://schemas.microsoft.com/office/drawing/2014/main" id="{A5F6A6FE-ED7A-A257-BD7D-78D2664E9B6B}"/>
              </a:ext>
            </a:extLst>
          </p:cNvPr>
          <p:cNvSpPr txBox="1"/>
          <p:nvPr/>
        </p:nvSpPr>
        <p:spPr>
          <a:xfrm>
            <a:off x="288235" y="646043"/>
            <a:ext cx="8858249" cy="369332"/>
          </a:xfrm>
          <a:prstGeom prst="rect">
            <a:avLst/>
          </a:prstGeom>
          <a:noFill/>
        </p:spPr>
        <p:txBody>
          <a:bodyPr wrap="square">
            <a:spAutoFit/>
          </a:bodyPr>
          <a:lstStyle/>
          <a:p>
            <a:r>
              <a:rPr lang="en-US" dirty="0"/>
              <a:t>Script 1 — System Identity Report</a:t>
            </a:r>
            <a:endParaRPr lang="en-IN" dirty="0"/>
          </a:p>
        </p:txBody>
      </p:sp>
      <p:graphicFrame>
        <p:nvGraphicFramePr>
          <p:cNvPr id="8" name="Table 7">
            <a:extLst>
              <a:ext uri="{FF2B5EF4-FFF2-40B4-BE49-F238E27FC236}">
                <a16:creationId xmlns:a16="http://schemas.microsoft.com/office/drawing/2014/main" id="{234B2B25-030F-4B86-D760-69E1F08366A9}"/>
              </a:ext>
            </a:extLst>
          </p:cNvPr>
          <p:cNvGraphicFramePr>
            <a:graphicFrameLocks noGrp="1"/>
          </p:cNvGraphicFramePr>
          <p:nvPr>
            <p:extLst>
              <p:ext uri="{D42A27DB-BD31-4B8C-83A1-F6EECF244321}">
                <p14:modId xmlns:p14="http://schemas.microsoft.com/office/powerpoint/2010/main" val="773983445"/>
              </p:ext>
            </p:extLst>
          </p:nvPr>
        </p:nvGraphicFramePr>
        <p:xfrm>
          <a:off x="427385" y="1110302"/>
          <a:ext cx="4949686" cy="4754880"/>
        </p:xfrm>
        <a:graphic>
          <a:graphicData uri="http://schemas.openxmlformats.org/drawingml/2006/table">
            <a:tbl>
              <a:tblPr firstRow="1" bandRow="1">
                <a:tableStyleId>{5C22544A-7EE6-4342-B048-85BDC9FD1C3A}</a:tableStyleId>
              </a:tblPr>
              <a:tblGrid>
                <a:gridCol w="4949686">
                  <a:extLst>
                    <a:ext uri="{9D8B030D-6E8A-4147-A177-3AD203B41FA5}">
                      <a16:colId xmlns:a16="http://schemas.microsoft.com/office/drawing/2014/main" val="3830363420"/>
                    </a:ext>
                  </a:extLst>
                </a:gridCol>
              </a:tblGrid>
              <a:tr h="2030463">
                <a:tc>
                  <a:txBody>
                    <a:bodyPr/>
                    <a:lstStyle/>
                    <a:p>
                      <a:r>
                        <a:rPr lang="en-IN" dirty="0"/>
                        <a:t>#!/bin/bash</a:t>
                      </a:r>
                    </a:p>
                    <a:p>
                      <a:r>
                        <a:rPr lang="en-IN" dirty="0"/>
                        <a:t># Script 1: System Identity Report</a:t>
                      </a:r>
                    </a:p>
                    <a:p>
                      <a:endParaRPr lang="en-IN" dirty="0"/>
                    </a:p>
                    <a:p>
                      <a:r>
                        <a:rPr lang="en-IN" dirty="0"/>
                        <a:t>echo "System Report"</a:t>
                      </a:r>
                    </a:p>
                    <a:p>
                      <a:r>
                        <a:rPr lang="en-IN" dirty="0"/>
                        <a:t>echo "-------------"</a:t>
                      </a:r>
                    </a:p>
                    <a:p>
                      <a:endParaRPr lang="en-IN" dirty="0"/>
                    </a:p>
                    <a:p>
                      <a:r>
                        <a:rPr lang="en-IN" dirty="0"/>
                        <a:t>echo "Kernel:"</a:t>
                      </a:r>
                    </a:p>
                    <a:p>
                      <a:r>
                        <a:rPr lang="en-IN" dirty="0" err="1"/>
                        <a:t>uname</a:t>
                      </a:r>
                      <a:r>
                        <a:rPr lang="en-IN" dirty="0"/>
                        <a:t> -r</a:t>
                      </a:r>
                    </a:p>
                    <a:p>
                      <a:endParaRPr lang="en-IN" dirty="0"/>
                    </a:p>
                    <a:p>
                      <a:r>
                        <a:rPr lang="en-IN" dirty="0"/>
                        <a:t>echo "User:"</a:t>
                      </a:r>
                    </a:p>
                    <a:p>
                      <a:r>
                        <a:rPr lang="en-IN" dirty="0" err="1"/>
                        <a:t>whoami</a:t>
                      </a:r>
                      <a:endParaRPr lang="en-IN" dirty="0"/>
                    </a:p>
                    <a:p>
                      <a:endParaRPr lang="en-IN" dirty="0"/>
                    </a:p>
                    <a:p>
                      <a:r>
                        <a:rPr lang="en-IN" dirty="0"/>
                        <a:t>echo "Uptime:"</a:t>
                      </a:r>
                    </a:p>
                    <a:p>
                      <a:r>
                        <a:rPr lang="en-IN" dirty="0"/>
                        <a:t>uptime</a:t>
                      </a:r>
                    </a:p>
                    <a:p>
                      <a:endParaRPr lang="en-IN" dirty="0"/>
                    </a:p>
                    <a:p>
                      <a:r>
                        <a:rPr lang="en-IN" dirty="0"/>
                        <a:t>echo "Date:"</a:t>
                      </a:r>
                    </a:p>
                    <a:p>
                      <a:r>
                        <a:rPr lang="en-IN" dirty="0"/>
                        <a:t>date</a:t>
                      </a:r>
                    </a:p>
                  </a:txBody>
                  <a:tcPr/>
                </a:tc>
                <a:extLst>
                  <a:ext uri="{0D108BD9-81ED-4DB2-BD59-A6C34878D82A}">
                    <a16:rowId xmlns:a16="http://schemas.microsoft.com/office/drawing/2014/main" val="1757378703"/>
                  </a:ext>
                </a:extLst>
              </a:tr>
            </a:tbl>
          </a:graphicData>
        </a:graphic>
      </p:graphicFrame>
      <p:sp>
        <p:nvSpPr>
          <p:cNvPr id="10" name="TextBox 9">
            <a:extLst>
              <a:ext uri="{FF2B5EF4-FFF2-40B4-BE49-F238E27FC236}">
                <a16:creationId xmlns:a16="http://schemas.microsoft.com/office/drawing/2014/main" id="{6C3DD30F-3F5B-5DA4-D4DB-0DCCD8B126A7}"/>
              </a:ext>
            </a:extLst>
          </p:cNvPr>
          <p:cNvSpPr txBox="1"/>
          <p:nvPr/>
        </p:nvSpPr>
        <p:spPr>
          <a:xfrm>
            <a:off x="6361043" y="646043"/>
            <a:ext cx="4263888" cy="369332"/>
          </a:xfrm>
          <a:prstGeom prst="rect">
            <a:avLst/>
          </a:prstGeom>
          <a:noFill/>
        </p:spPr>
        <p:txBody>
          <a:bodyPr wrap="square">
            <a:spAutoFit/>
          </a:bodyPr>
          <a:lstStyle/>
          <a:p>
            <a:r>
              <a:rPr lang="en-IN" dirty="0"/>
              <a:t>Script 2 — Package Inspector</a:t>
            </a:r>
          </a:p>
        </p:txBody>
      </p:sp>
      <p:graphicFrame>
        <p:nvGraphicFramePr>
          <p:cNvPr id="11" name="Table 10">
            <a:extLst>
              <a:ext uri="{FF2B5EF4-FFF2-40B4-BE49-F238E27FC236}">
                <a16:creationId xmlns:a16="http://schemas.microsoft.com/office/drawing/2014/main" id="{5B4BB3C2-F423-4DE0-83C7-FA14D14DFAFF}"/>
              </a:ext>
            </a:extLst>
          </p:cNvPr>
          <p:cNvGraphicFramePr>
            <a:graphicFrameLocks noGrp="1"/>
          </p:cNvGraphicFramePr>
          <p:nvPr>
            <p:extLst>
              <p:ext uri="{D42A27DB-BD31-4B8C-83A1-F6EECF244321}">
                <p14:modId xmlns:p14="http://schemas.microsoft.com/office/powerpoint/2010/main" val="2595523182"/>
              </p:ext>
            </p:extLst>
          </p:nvPr>
        </p:nvGraphicFramePr>
        <p:xfrm>
          <a:off x="5824330" y="1110301"/>
          <a:ext cx="6192079" cy="3931920"/>
        </p:xfrm>
        <a:graphic>
          <a:graphicData uri="http://schemas.openxmlformats.org/drawingml/2006/table">
            <a:tbl>
              <a:tblPr firstRow="1" bandRow="1">
                <a:tableStyleId>{5C22544A-7EE6-4342-B048-85BDC9FD1C3A}</a:tableStyleId>
              </a:tblPr>
              <a:tblGrid>
                <a:gridCol w="6192079">
                  <a:extLst>
                    <a:ext uri="{9D8B030D-6E8A-4147-A177-3AD203B41FA5}">
                      <a16:colId xmlns:a16="http://schemas.microsoft.com/office/drawing/2014/main" val="1809426376"/>
                    </a:ext>
                  </a:extLst>
                </a:gridCol>
              </a:tblGrid>
              <a:tr h="3108961">
                <a:tc>
                  <a:txBody>
                    <a:bodyPr/>
                    <a:lstStyle/>
                    <a:p>
                      <a:r>
                        <a:rPr lang="en-IN" dirty="0"/>
                        <a:t>#!/bin/bash</a:t>
                      </a:r>
                    </a:p>
                    <a:p>
                      <a:r>
                        <a:rPr lang="en-IN" dirty="0"/>
                        <a:t># Script 2: Check if git is installed</a:t>
                      </a:r>
                    </a:p>
                    <a:p>
                      <a:endParaRPr lang="en-IN" dirty="0"/>
                    </a:p>
                    <a:p>
                      <a:r>
                        <a:rPr lang="en-IN" dirty="0"/>
                        <a:t>echo "Checking Git..."</a:t>
                      </a:r>
                    </a:p>
                    <a:p>
                      <a:endParaRPr lang="en-IN" dirty="0"/>
                    </a:p>
                    <a:p>
                      <a:r>
                        <a:rPr lang="en-IN" dirty="0" err="1"/>
                        <a:t>dpkg</a:t>
                      </a:r>
                      <a:r>
                        <a:rPr lang="en-IN" dirty="0"/>
                        <a:t> -l | grep git</a:t>
                      </a:r>
                    </a:p>
                    <a:p>
                      <a:endParaRPr lang="en-IN" dirty="0"/>
                    </a:p>
                    <a:p>
                      <a:r>
                        <a:rPr lang="en-IN" dirty="0"/>
                        <a:t>if [ $? -</a:t>
                      </a:r>
                      <a:r>
                        <a:rPr lang="en-IN" dirty="0" err="1"/>
                        <a:t>eq</a:t>
                      </a:r>
                      <a:r>
                        <a:rPr lang="en-IN" dirty="0"/>
                        <a:t> 0 ]</a:t>
                      </a:r>
                    </a:p>
                    <a:p>
                      <a:r>
                        <a:rPr lang="en-IN" dirty="0"/>
                        <a:t>then</a:t>
                      </a:r>
                    </a:p>
                    <a:p>
                      <a:r>
                        <a:rPr lang="en-IN" dirty="0"/>
                        <a:t>    echo "Git is installed"</a:t>
                      </a:r>
                    </a:p>
                    <a:p>
                      <a:r>
                        <a:rPr lang="en-IN" dirty="0"/>
                        <a:t>    git --version</a:t>
                      </a:r>
                    </a:p>
                    <a:p>
                      <a:r>
                        <a:rPr lang="en-IN" dirty="0"/>
                        <a:t>else</a:t>
                      </a:r>
                    </a:p>
                    <a:p>
                      <a:r>
                        <a:rPr lang="en-IN" dirty="0"/>
                        <a:t>    echo "Git is not installed"</a:t>
                      </a:r>
                    </a:p>
                    <a:p>
                      <a:r>
                        <a:rPr lang="en-IN" dirty="0"/>
                        <a:t>fi</a:t>
                      </a:r>
                    </a:p>
                  </a:txBody>
                  <a:tcPr/>
                </a:tc>
                <a:extLst>
                  <a:ext uri="{0D108BD9-81ED-4DB2-BD59-A6C34878D82A}">
                    <a16:rowId xmlns:a16="http://schemas.microsoft.com/office/drawing/2014/main" val="2191580431"/>
                  </a:ext>
                </a:extLst>
              </a:tr>
            </a:tbl>
          </a:graphicData>
        </a:graphic>
      </p:graphicFrame>
    </p:spTree>
    <p:extLst>
      <p:ext uri="{BB962C8B-B14F-4D97-AF65-F5344CB8AC3E}">
        <p14:creationId xmlns:p14="http://schemas.microsoft.com/office/powerpoint/2010/main" val="3939214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EBB8B0-7DBA-2F07-129F-1A31FF71F6B9}"/>
              </a:ext>
            </a:extLst>
          </p:cNvPr>
          <p:cNvSpPr txBox="1"/>
          <p:nvPr/>
        </p:nvSpPr>
        <p:spPr>
          <a:xfrm>
            <a:off x="178904" y="109330"/>
            <a:ext cx="8967580" cy="369332"/>
          </a:xfrm>
          <a:prstGeom prst="rect">
            <a:avLst/>
          </a:prstGeom>
          <a:noFill/>
        </p:spPr>
        <p:txBody>
          <a:bodyPr wrap="square">
            <a:spAutoFit/>
          </a:bodyPr>
          <a:lstStyle/>
          <a:p>
            <a:r>
              <a:rPr lang="en-IN" dirty="0"/>
              <a:t>Script 3 — Disk Auditor</a:t>
            </a:r>
          </a:p>
        </p:txBody>
      </p:sp>
      <p:graphicFrame>
        <p:nvGraphicFramePr>
          <p:cNvPr id="5" name="Table 4">
            <a:extLst>
              <a:ext uri="{FF2B5EF4-FFF2-40B4-BE49-F238E27FC236}">
                <a16:creationId xmlns:a16="http://schemas.microsoft.com/office/drawing/2014/main" id="{791F82B3-7B83-D915-76D7-DA3169FE443B}"/>
              </a:ext>
            </a:extLst>
          </p:cNvPr>
          <p:cNvGraphicFramePr>
            <a:graphicFrameLocks noGrp="1"/>
          </p:cNvGraphicFramePr>
          <p:nvPr>
            <p:extLst>
              <p:ext uri="{D42A27DB-BD31-4B8C-83A1-F6EECF244321}">
                <p14:modId xmlns:p14="http://schemas.microsoft.com/office/powerpoint/2010/main" val="2303786460"/>
              </p:ext>
            </p:extLst>
          </p:nvPr>
        </p:nvGraphicFramePr>
        <p:xfrm>
          <a:off x="516836" y="586409"/>
          <a:ext cx="4798391" cy="4480560"/>
        </p:xfrm>
        <a:graphic>
          <a:graphicData uri="http://schemas.openxmlformats.org/drawingml/2006/table">
            <a:tbl>
              <a:tblPr firstRow="1" bandRow="1">
                <a:tableStyleId>{5C22544A-7EE6-4342-B048-85BDC9FD1C3A}</a:tableStyleId>
              </a:tblPr>
              <a:tblGrid>
                <a:gridCol w="4798391">
                  <a:extLst>
                    <a:ext uri="{9D8B030D-6E8A-4147-A177-3AD203B41FA5}">
                      <a16:colId xmlns:a16="http://schemas.microsoft.com/office/drawing/2014/main" val="1662877958"/>
                    </a:ext>
                  </a:extLst>
                </a:gridCol>
              </a:tblGrid>
              <a:tr h="1967948">
                <a:tc>
                  <a:txBody>
                    <a:bodyPr/>
                    <a:lstStyle/>
                    <a:p>
                      <a:r>
                        <a:rPr lang="en-US" dirty="0"/>
                        <a:t>#!/bin/bash</a:t>
                      </a:r>
                    </a:p>
                    <a:p>
                      <a:r>
                        <a:rPr lang="en-US" dirty="0"/>
                        <a:t># Script 3: Directory info</a:t>
                      </a:r>
                    </a:p>
                    <a:p>
                      <a:endParaRPr lang="en-US" dirty="0"/>
                    </a:p>
                    <a:p>
                      <a:r>
                        <a:rPr lang="en-US" dirty="0"/>
                        <a:t>echo "Checking directories"</a:t>
                      </a:r>
                    </a:p>
                    <a:p>
                      <a:endParaRPr lang="en-US" dirty="0"/>
                    </a:p>
                    <a:p>
                      <a:r>
                        <a:rPr lang="en-US" dirty="0"/>
                        <a:t>echo "/</a:t>
                      </a:r>
                      <a:r>
                        <a:rPr lang="en-US" dirty="0" err="1"/>
                        <a:t>etc</a:t>
                      </a:r>
                      <a:r>
                        <a:rPr lang="en-US" dirty="0"/>
                        <a:t>"</a:t>
                      </a:r>
                    </a:p>
                    <a:p>
                      <a:r>
                        <a:rPr lang="en-US" dirty="0"/>
                        <a:t>du -</a:t>
                      </a:r>
                      <a:r>
                        <a:rPr lang="en-US" dirty="0" err="1"/>
                        <a:t>sh</a:t>
                      </a:r>
                      <a:r>
                        <a:rPr lang="en-US" dirty="0"/>
                        <a:t> /</a:t>
                      </a:r>
                      <a:r>
                        <a:rPr lang="en-US" dirty="0" err="1"/>
                        <a:t>etc</a:t>
                      </a:r>
                      <a:endParaRPr lang="en-US" dirty="0"/>
                    </a:p>
                    <a:p>
                      <a:r>
                        <a:rPr lang="en-US" dirty="0"/>
                        <a:t>ls -</a:t>
                      </a:r>
                      <a:r>
                        <a:rPr lang="en-US" dirty="0" err="1"/>
                        <a:t>ld</a:t>
                      </a:r>
                      <a:r>
                        <a:rPr lang="en-US" dirty="0"/>
                        <a:t> /</a:t>
                      </a:r>
                      <a:r>
                        <a:rPr lang="en-US" dirty="0" err="1"/>
                        <a:t>etc</a:t>
                      </a:r>
                      <a:endParaRPr lang="en-US" dirty="0"/>
                    </a:p>
                    <a:p>
                      <a:endParaRPr lang="en-US" dirty="0"/>
                    </a:p>
                    <a:p>
                      <a:r>
                        <a:rPr lang="en-US" dirty="0"/>
                        <a:t>echo "/home"</a:t>
                      </a:r>
                    </a:p>
                    <a:p>
                      <a:r>
                        <a:rPr lang="en-US" dirty="0"/>
                        <a:t>du -</a:t>
                      </a:r>
                      <a:r>
                        <a:rPr lang="en-US" dirty="0" err="1"/>
                        <a:t>sh</a:t>
                      </a:r>
                      <a:r>
                        <a:rPr lang="en-US" dirty="0"/>
                        <a:t> /home</a:t>
                      </a:r>
                    </a:p>
                    <a:p>
                      <a:r>
                        <a:rPr lang="en-US" dirty="0"/>
                        <a:t>ls -</a:t>
                      </a:r>
                      <a:r>
                        <a:rPr lang="en-US" dirty="0" err="1"/>
                        <a:t>ld</a:t>
                      </a:r>
                      <a:r>
                        <a:rPr lang="en-US" dirty="0"/>
                        <a:t> /home</a:t>
                      </a:r>
                    </a:p>
                    <a:p>
                      <a:endParaRPr lang="en-US" dirty="0"/>
                    </a:p>
                    <a:p>
                      <a:r>
                        <a:rPr lang="en-US" dirty="0"/>
                        <a:t>echo "/</a:t>
                      </a:r>
                      <a:r>
                        <a:rPr lang="en-US" dirty="0" err="1"/>
                        <a:t>usr</a:t>
                      </a:r>
                      <a:r>
                        <a:rPr lang="en-US" dirty="0"/>
                        <a:t>"</a:t>
                      </a:r>
                    </a:p>
                    <a:p>
                      <a:r>
                        <a:rPr lang="en-US" dirty="0"/>
                        <a:t>du -</a:t>
                      </a:r>
                      <a:r>
                        <a:rPr lang="en-US" dirty="0" err="1"/>
                        <a:t>sh</a:t>
                      </a:r>
                      <a:r>
                        <a:rPr lang="en-US" dirty="0"/>
                        <a:t> /</a:t>
                      </a:r>
                      <a:r>
                        <a:rPr lang="en-US" dirty="0" err="1"/>
                        <a:t>usr</a:t>
                      </a:r>
                      <a:endParaRPr lang="en-US" dirty="0"/>
                    </a:p>
                    <a:p>
                      <a:r>
                        <a:rPr lang="en-US" dirty="0"/>
                        <a:t>ls -</a:t>
                      </a:r>
                      <a:r>
                        <a:rPr lang="en-US" dirty="0" err="1"/>
                        <a:t>ld</a:t>
                      </a:r>
                      <a:r>
                        <a:rPr lang="en-US" dirty="0"/>
                        <a:t> /</a:t>
                      </a:r>
                      <a:r>
                        <a:rPr lang="en-US" dirty="0" err="1"/>
                        <a:t>usr</a:t>
                      </a:r>
                      <a:endParaRPr lang="en-IN" dirty="0"/>
                    </a:p>
                  </a:txBody>
                  <a:tcPr/>
                </a:tc>
                <a:extLst>
                  <a:ext uri="{0D108BD9-81ED-4DB2-BD59-A6C34878D82A}">
                    <a16:rowId xmlns:a16="http://schemas.microsoft.com/office/drawing/2014/main" val="546740335"/>
                  </a:ext>
                </a:extLst>
              </a:tr>
            </a:tbl>
          </a:graphicData>
        </a:graphic>
      </p:graphicFrame>
      <p:sp>
        <p:nvSpPr>
          <p:cNvPr id="7" name="TextBox 6">
            <a:extLst>
              <a:ext uri="{FF2B5EF4-FFF2-40B4-BE49-F238E27FC236}">
                <a16:creationId xmlns:a16="http://schemas.microsoft.com/office/drawing/2014/main" id="{4BE798F8-5839-1E51-9E9B-88A1347A1170}"/>
              </a:ext>
            </a:extLst>
          </p:cNvPr>
          <p:cNvSpPr txBox="1"/>
          <p:nvPr/>
        </p:nvSpPr>
        <p:spPr>
          <a:xfrm>
            <a:off x="5685182" y="109330"/>
            <a:ext cx="3461301" cy="369332"/>
          </a:xfrm>
          <a:prstGeom prst="rect">
            <a:avLst/>
          </a:prstGeom>
          <a:noFill/>
        </p:spPr>
        <p:txBody>
          <a:bodyPr wrap="square">
            <a:spAutoFit/>
          </a:bodyPr>
          <a:lstStyle/>
          <a:p>
            <a:r>
              <a:rPr lang="en-IN" dirty="0"/>
              <a:t>Script 4 — Log Analyzer</a:t>
            </a:r>
          </a:p>
        </p:txBody>
      </p:sp>
      <p:graphicFrame>
        <p:nvGraphicFramePr>
          <p:cNvPr id="8" name="Table 7">
            <a:extLst>
              <a:ext uri="{FF2B5EF4-FFF2-40B4-BE49-F238E27FC236}">
                <a16:creationId xmlns:a16="http://schemas.microsoft.com/office/drawing/2014/main" id="{02D3BDB1-309C-A8BF-FF51-F4057A2A4043}"/>
              </a:ext>
            </a:extLst>
          </p:cNvPr>
          <p:cNvGraphicFramePr>
            <a:graphicFrameLocks noGrp="1"/>
          </p:cNvGraphicFramePr>
          <p:nvPr>
            <p:extLst>
              <p:ext uri="{D42A27DB-BD31-4B8C-83A1-F6EECF244321}">
                <p14:modId xmlns:p14="http://schemas.microsoft.com/office/powerpoint/2010/main" val="1034109467"/>
              </p:ext>
            </p:extLst>
          </p:nvPr>
        </p:nvGraphicFramePr>
        <p:xfrm>
          <a:off x="6234043" y="586410"/>
          <a:ext cx="5007113" cy="5303520"/>
        </p:xfrm>
        <a:graphic>
          <a:graphicData uri="http://schemas.openxmlformats.org/drawingml/2006/table">
            <a:tbl>
              <a:tblPr firstRow="1" bandRow="1">
                <a:tableStyleId>{5C22544A-7EE6-4342-B048-85BDC9FD1C3A}</a:tableStyleId>
              </a:tblPr>
              <a:tblGrid>
                <a:gridCol w="5007113">
                  <a:extLst>
                    <a:ext uri="{9D8B030D-6E8A-4147-A177-3AD203B41FA5}">
                      <a16:colId xmlns:a16="http://schemas.microsoft.com/office/drawing/2014/main" val="3622042245"/>
                    </a:ext>
                  </a:extLst>
                </a:gridCol>
              </a:tblGrid>
              <a:tr h="4480559">
                <a:tc>
                  <a:txBody>
                    <a:bodyPr/>
                    <a:lstStyle/>
                    <a:p>
                      <a:r>
                        <a:rPr lang="en-US" dirty="0"/>
                        <a:t>#!/bin/bash</a:t>
                      </a:r>
                    </a:p>
                    <a:p>
                      <a:r>
                        <a:rPr lang="en-US" dirty="0"/>
                        <a:t># Script 4: Count errors in file</a:t>
                      </a:r>
                    </a:p>
                    <a:p>
                      <a:endParaRPr lang="en-US" dirty="0"/>
                    </a:p>
                    <a:p>
                      <a:r>
                        <a:rPr lang="en-US" dirty="0"/>
                        <a:t>echo "Enter file name:"</a:t>
                      </a:r>
                    </a:p>
                    <a:p>
                      <a:r>
                        <a:rPr lang="en-US" dirty="0"/>
                        <a:t>read file</a:t>
                      </a:r>
                    </a:p>
                    <a:p>
                      <a:endParaRPr lang="en-US" dirty="0"/>
                    </a:p>
                    <a:p>
                      <a:r>
                        <a:rPr lang="en-US" dirty="0"/>
                        <a:t>count=0</a:t>
                      </a:r>
                    </a:p>
                    <a:p>
                      <a:endParaRPr lang="en-US" dirty="0"/>
                    </a:p>
                    <a:p>
                      <a:r>
                        <a:rPr lang="en-US" dirty="0"/>
                        <a:t>while read line</a:t>
                      </a:r>
                    </a:p>
                    <a:p>
                      <a:r>
                        <a:rPr lang="en-US" dirty="0"/>
                        <a:t>do</a:t>
                      </a:r>
                    </a:p>
                    <a:p>
                      <a:r>
                        <a:rPr lang="en-US" dirty="0"/>
                        <a:t>    echo $line | grep -</a:t>
                      </a:r>
                      <a:r>
                        <a:rPr lang="en-US" dirty="0" err="1"/>
                        <a:t>i</a:t>
                      </a:r>
                      <a:r>
                        <a:rPr lang="en-US" dirty="0"/>
                        <a:t> "error" &gt; /dev/null</a:t>
                      </a:r>
                    </a:p>
                    <a:p>
                      <a:endParaRPr lang="en-US" dirty="0"/>
                    </a:p>
                    <a:p>
                      <a:r>
                        <a:rPr lang="en-US" dirty="0"/>
                        <a:t>    if [ $? -eq 0 ]</a:t>
                      </a:r>
                    </a:p>
                    <a:p>
                      <a:r>
                        <a:rPr lang="en-US" dirty="0"/>
                        <a:t>    then</a:t>
                      </a:r>
                    </a:p>
                    <a:p>
                      <a:r>
                        <a:rPr lang="en-US" dirty="0"/>
                        <a:t>        count=$((count+1))</a:t>
                      </a:r>
                    </a:p>
                    <a:p>
                      <a:r>
                        <a:rPr lang="en-US" dirty="0"/>
                        <a:t>    fi</a:t>
                      </a:r>
                    </a:p>
                    <a:p>
                      <a:r>
                        <a:rPr lang="en-US" dirty="0"/>
                        <a:t>done &lt; $file</a:t>
                      </a:r>
                    </a:p>
                    <a:p>
                      <a:endParaRPr lang="en-US" dirty="0"/>
                    </a:p>
                    <a:p>
                      <a:r>
                        <a:rPr lang="en-US" dirty="0"/>
                        <a:t>echo "Total errors: $count"</a:t>
                      </a:r>
                      <a:endParaRPr lang="en-IN" dirty="0"/>
                    </a:p>
                  </a:txBody>
                  <a:tcPr/>
                </a:tc>
                <a:extLst>
                  <a:ext uri="{0D108BD9-81ED-4DB2-BD59-A6C34878D82A}">
                    <a16:rowId xmlns:a16="http://schemas.microsoft.com/office/drawing/2014/main" val="3833880686"/>
                  </a:ext>
                </a:extLst>
              </a:tr>
            </a:tbl>
          </a:graphicData>
        </a:graphic>
      </p:graphicFrame>
    </p:spTree>
    <p:extLst>
      <p:ext uri="{BB962C8B-B14F-4D97-AF65-F5344CB8AC3E}">
        <p14:creationId xmlns:p14="http://schemas.microsoft.com/office/powerpoint/2010/main" val="3570321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A58E71-8979-D490-AB4E-3F1E50499A97}"/>
              </a:ext>
            </a:extLst>
          </p:cNvPr>
          <p:cNvSpPr txBox="1"/>
          <p:nvPr/>
        </p:nvSpPr>
        <p:spPr>
          <a:xfrm>
            <a:off x="526774" y="188843"/>
            <a:ext cx="8619710" cy="369332"/>
          </a:xfrm>
          <a:prstGeom prst="rect">
            <a:avLst/>
          </a:prstGeom>
          <a:noFill/>
        </p:spPr>
        <p:txBody>
          <a:bodyPr wrap="square">
            <a:spAutoFit/>
          </a:bodyPr>
          <a:lstStyle/>
          <a:p>
            <a:r>
              <a:rPr lang="en-IN" dirty="0"/>
              <a:t>Script 5 — Manifest Generator</a:t>
            </a:r>
          </a:p>
        </p:txBody>
      </p:sp>
      <p:graphicFrame>
        <p:nvGraphicFramePr>
          <p:cNvPr id="4" name="Table 3">
            <a:extLst>
              <a:ext uri="{FF2B5EF4-FFF2-40B4-BE49-F238E27FC236}">
                <a16:creationId xmlns:a16="http://schemas.microsoft.com/office/drawing/2014/main" id="{D10F54B5-4E31-EB20-C01C-7BE5D16EC6F4}"/>
              </a:ext>
            </a:extLst>
          </p:cNvPr>
          <p:cNvGraphicFramePr>
            <a:graphicFrameLocks noGrp="1"/>
          </p:cNvGraphicFramePr>
          <p:nvPr>
            <p:extLst>
              <p:ext uri="{D42A27DB-BD31-4B8C-83A1-F6EECF244321}">
                <p14:modId xmlns:p14="http://schemas.microsoft.com/office/powerpoint/2010/main" val="221629052"/>
              </p:ext>
            </p:extLst>
          </p:nvPr>
        </p:nvGraphicFramePr>
        <p:xfrm>
          <a:off x="725558" y="646043"/>
          <a:ext cx="7444408" cy="3291840"/>
        </p:xfrm>
        <a:graphic>
          <a:graphicData uri="http://schemas.openxmlformats.org/drawingml/2006/table">
            <a:tbl>
              <a:tblPr firstRow="1" bandRow="1">
                <a:tableStyleId>{5C22544A-7EE6-4342-B048-85BDC9FD1C3A}</a:tableStyleId>
              </a:tblPr>
              <a:tblGrid>
                <a:gridCol w="7444408">
                  <a:extLst>
                    <a:ext uri="{9D8B030D-6E8A-4147-A177-3AD203B41FA5}">
                      <a16:colId xmlns:a16="http://schemas.microsoft.com/office/drawing/2014/main" val="151748279"/>
                    </a:ext>
                  </a:extLst>
                </a:gridCol>
              </a:tblGrid>
              <a:tr h="1639957">
                <a:tc>
                  <a:txBody>
                    <a:bodyPr/>
                    <a:lstStyle/>
                    <a:p>
                      <a:r>
                        <a:rPr lang="en-US" sz="1400" dirty="0"/>
                        <a:t>#!/bin/bash</a:t>
                      </a:r>
                    </a:p>
                    <a:p>
                      <a:r>
                        <a:rPr lang="en-US" sz="1400" dirty="0"/>
                        <a:t># Script 5: Simple manifesto</a:t>
                      </a:r>
                    </a:p>
                    <a:p>
                      <a:endParaRPr lang="en-US" sz="1400" dirty="0"/>
                    </a:p>
                    <a:p>
                      <a:r>
                        <a:rPr lang="en-US" sz="1400" dirty="0"/>
                        <a:t>echo "Enter tool:"</a:t>
                      </a:r>
                    </a:p>
                    <a:p>
                      <a:r>
                        <a:rPr lang="en-US" sz="1400" dirty="0"/>
                        <a:t>read tool</a:t>
                      </a:r>
                    </a:p>
                    <a:p>
                      <a:endParaRPr lang="en-US" sz="1400" dirty="0"/>
                    </a:p>
                    <a:p>
                      <a:r>
                        <a:rPr lang="en-US" sz="1400" dirty="0"/>
                        <a:t>echo "Enter meaning of freedom:"</a:t>
                      </a:r>
                    </a:p>
                    <a:p>
                      <a:r>
                        <a:rPr lang="en-US" sz="1400" dirty="0"/>
                        <a:t>read freedom</a:t>
                      </a:r>
                    </a:p>
                    <a:p>
                      <a:endParaRPr lang="en-US" sz="1400" dirty="0"/>
                    </a:p>
                    <a:p>
                      <a:r>
                        <a:rPr lang="en-US" sz="1400" dirty="0"/>
                        <a:t>echo "Enter what you will build:"</a:t>
                      </a:r>
                    </a:p>
                    <a:p>
                      <a:r>
                        <a:rPr lang="en-US" sz="1400" dirty="0"/>
                        <a:t>read build</a:t>
                      </a:r>
                    </a:p>
                    <a:p>
                      <a:endParaRPr lang="en-US" sz="1400" dirty="0"/>
                    </a:p>
                    <a:p>
                      <a:r>
                        <a:rPr lang="en-US" sz="1400" dirty="0"/>
                        <a:t>echo "I use $tool"</a:t>
                      </a:r>
                    </a:p>
                    <a:p>
                      <a:r>
                        <a:rPr lang="en-US" sz="1400" dirty="0"/>
                        <a:t>echo "Freedom means $freedom"</a:t>
                      </a:r>
                    </a:p>
                    <a:p>
                      <a:r>
                        <a:rPr lang="en-US" sz="1400" dirty="0"/>
                        <a:t>echo "I will build $build"</a:t>
                      </a:r>
                      <a:endParaRPr lang="en-IN" sz="1400" dirty="0"/>
                    </a:p>
                  </a:txBody>
                  <a:tcPr/>
                </a:tc>
                <a:extLst>
                  <a:ext uri="{0D108BD9-81ED-4DB2-BD59-A6C34878D82A}">
                    <a16:rowId xmlns:a16="http://schemas.microsoft.com/office/drawing/2014/main" val="43698781"/>
                  </a:ext>
                </a:extLst>
              </a:tr>
            </a:tbl>
          </a:graphicData>
        </a:graphic>
      </p:graphicFrame>
      <p:sp>
        <p:nvSpPr>
          <p:cNvPr id="6" name="TextBox 5">
            <a:extLst>
              <a:ext uri="{FF2B5EF4-FFF2-40B4-BE49-F238E27FC236}">
                <a16:creationId xmlns:a16="http://schemas.microsoft.com/office/drawing/2014/main" id="{DFE0D85B-976E-1A23-8BC4-C1A287246391}"/>
              </a:ext>
            </a:extLst>
          </p:cNvPr>
          <p:cNvSpPr txBox="1"/>
          <p:nvPr/>
        </p:nvSpPr>
        <p:spPr>
          <a:xfrm rot="10800000" flipV="1">
            <a:off x="526771" y="4202362"/>
            <a:ext cx="9293089" cy="1754326"/>
          </a:xfrm>
          <a:prstGeom prst="rect">
            <a:avLst/>
          </a:prstGeom>
          <a:noFill/>
        </p:spPr>
        <p:txBody>
          <a:bodyPr wrap="square">
            <a:spAutoFit/>
          </a:bodyPr>
          <a:lstStyle/>
          <a:p>
            <a:pPr>
              <a:buNone/>
            </a:pPr>
            <a:r>
              <a:rPr lang="en-US" b="1" dirty="0"/>
              <a:t>Conclusion:</a:t>
            </a:r>
          </a:p>
          <a:p>
            <a:pPr>
              <a:buNone/>
            </a:pPr>
            <a:endParaRPr lang="en-US" b="1" dirty="0"/>
          </a:p>
          <a:p>
            <a:pPr>
              <a:buNone/>
            </a:pPr>
            <a:r>
              <a:rPr lang="en-US" dirty="0"/>
              <a:t>This project helped in understanding that Git is not just a tool but a reflection of open-source philosophy. It represents collaboration, transparency, and shared growth. By studying Git, it becomes clear how powerful open-source software can be in shaping the modern technological world.</a:t>
            </a:r>
          </a:p>
        </p:txBody>
      </p:sp>
    </p:spTree>
    <p:extLst>
      <p:ext uri="{BB962C8B-B14F-4D97-AF65-F5344CB8AC3E}">
        <p14:creationId xmlns:p14="http://schemas.microsoft.com/office/powerpoint/2010/main" val="1346388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BE599A4-2064-418F-8A5C-77137FCBAEF6}"/>
              </a:ext>
            </a:extLst>
          </p:cNvPr>
          <p:cNvGraphicFramePr>
            <a:graphicFrameLocks noGrp="1"/>
          </p:cNvGraphicFramePr>
          <p:nvPr>
            <p:extLst>
              <p:ext uri="{D42A27DB-BD31-4B8C-83A1-F6EECF244321}">
                <p14:modId xmlns:p14="http://schemas.microsoft.com/office/powerpoint/2010/main" val="1768862820"/>
              </p:ext>
            </p:extLst>
          </p:nvPr>
        </p:nvGraphicFramePr>
        <p:xfrm>
          <a:off x="1838739" y="129209"/>
          <a:ext cx="8321261" cy="437321"/>
        </p:xfrm>
        <a:graphic>
          <a:graphicData uri="http://schemas.openxmlformats.org/drawingml/2006/table">
            <a:tbl>
              <a:tblPr firstRow="1" bandRow="1">
                <a:tableStyleId>{5C22544A-7EE6-4342-B048-85BDC9FD1C3A}</a:tableStyleId>
              </a:tblPr>
              <a:tblGrid>
                <a:gridCol w="8321261">
                  <a:extLst>
                    <a:ext uri="{9D8B030D-6E8A-4147-A177-3AD203B41FA5}">
                      <a16:colId xmlns:a16="http://schemas.microsoft.com/office/drawing/2014/main" val="4265166846"/>
                    </a:ext>
                  </a:extLst>
                </a:gridCol>
              </a:tblGrid>
              <a:tr h="437321">
                <a:tc>
                  <a:txBody>
                    <a:bodyPr/>
                    <a:lstStyle/>
                    <a:p>
                      <a:r>
                        <a:rPr lang="en-IN" dirty="0"/>
                        <a:t>SHELLS SCRIPTS OUTPUT:-</a:t>
                      </a:r>
                    </a:p>
                  </a:txBody>
                  <a:tcPr/>
                </a:tc>
                <a:extLst>
                  <a:ext uri="{0D108BD9-81ED-4DB2-BD59-A6C34878D82A}">
                    <a16:rowId xmlns:a16="http://schemas.microsoft.com/office/drawing/2014/main" val="141402497"/>
                  </a:ext>
                </a:extLst>
              </a:tr>
            </a:tbl>
          </a:graphicData>
        </a:graphic>
      </p:graphicFrame>
      <p:sp>
        <p:nvSpPr>
          <p:cNvPr id="8" name="TextBox 7">
            <a:extLst>
              <a:ext uri="{FF2B5EF4-FFF2-40B4-BE49-F238E27FC236}">
                <a16:creationId xmlns:a16="http://schemas.microsoft.com/office/drawing/2014/main" id="{9859C1E0-D47D-0403-960C-AC027F4C0107}"/>
              </a:ext>
            </a:extLst>
          </p:cNvPr>
          <p:cNvSpPr txBox="1"/>
          <p:nvPr/>
        </p:nvSpPr>
        <p:spPr>
          <a:xfrm>
            <a:off x="254259" y="566530"/>
            <a:ext cx="8892225" cy="369332"/>
          </a:xfrm>
          <a:prstGeom prst="rect">
            <a:avLst/>
          </a:prstGeom>
          <a:noFill/>
        </p:spPr>
        <p:txBody>
          <a:bodyPr wrap="square">
            <a:spAutoFit/>
          </a:bodyPr>
          <a:lstStyle/>
          <a:p>
            <a:r>
              <a:rPr lang="en-IN" dirty="0"/>
              <a:t>script1</a:t>
            </a:r>
          </a:p>
        </p:txBody>
      </p:sp>
      <p:sp>
        <p:nvSpPr>
          <p:cNvPr id="10" name="TextBox 9">
            <a:extLst>
              <a:ext uri="{FF2B5EF4-FFF2-40B4-BE49-F238E27FC236}">
                <a16:creationId xmlns:a16="http://schemas.microsoft.com/office/drawing/2014/main" id="{F2E28CBF-EB33-7CEA-E818-441141E2FB3E}"/>
              </a:ext>
            </a:extLst>
          </p:cNvPr>
          <p:cNvSpPr txBox="1"/>
          <p:nvPr/>
        </p:nvSpPr>
        <p:spPr>
          <a:xfrm rot="10800000" flipV="1">
            <a:off x="254259" y="4027308"/>
            <a:ext cx="8709162" cy="369332"/>
          </a:xfrm>
          <a:prstGeom prst="rect">
            <a:avLst/>
          </a:prstGeom>
          <a:noFill/>
        </p:spPr>
        <p:txBody>
          <a:bodyPr wrap="square">
            <a:spAutoFit/>
          </a:bodyPr>
          <a:lstStyle/>
          <a:p>
            <a:r>
              <a:rPr lang="en-IN" dirty="0"/>
              <a:t>script2</a:t>
            </a:r>
          </a:p>
        </p:txBody>
      </p:sp>
      <p:pic>
        <p:nvPicPr>
          <p:cNvPr id="3" name="Picture 2">
            <a:extLst>
              <a:ext uri="{FF2B5EF4-FFF2-40B4-BE49-F238E27FC236}">
                <a16:creationId xmlns:a16="http://schemas.microsoft.com/office/drawing/2014/main" id="{0931F76E-B4F7-1E53-1DAF-152A5E7858EA}"/>
              </a:ext>
            </a:extLst>
          </p:cNvPr>
          <p:cNvPicPr>
            <a:picLocks noChangeAspect="1"/>
          </p:cNvPicPr>
          <p:nvPr/>
        </p:nvPicPr>
        <p:blipFill>
          <a:blip r:embed="rId2"/>
          <a:stretch>
            <a:fillRect/>
          </a:stretch>
        </p:blipFill>
        <p:spPr>
          <a:xfrm>
            <a:off x="675165" y="935862"/>
            <a:ext cx="6332304" cy="2554878"/>
          </a:xfrm>
          <a:prstGeom prst="rect">
            <a:avLst/>
          </a:prstGeom>
        </p:spPr>
      </p:pic>
      <p:pic>
        <p:nvPicPr>
          <p:cNvPr id="7" name="Picture 6">
            <a:extLst>
              <a:ext uri="{FF2B5EF4-FFF2-40B4-BE49-F238E27FC236}">
                <a16:creationId xmlns:a16="http://schemas.microsoft.com/office/drawing/2014/main" id="{3A643D2F-D5C2-66BB-2411-D1FCA67B621D}"/>
              </a:ext>
            </a:extLst>
          </p:cNvPr>
          <p:cNvPicPr>
            <a:picLocks noChangeAspect="1"/>
          </p:cNvPicPr>
          <p:nvPr/>
        </p:nvPicPr>
        <p:blipFill>
          <a:blip r:embed="rId3"/>
          <a:stretch>
            <a:fillRect/>
          </a:stretch>
        </p:blipFill>
        <p:spPr>
          <a:xfrm>
            <a:off x="675165" y="4491210"/>
            <a:ext cx="6351106" cy="1800260"/>
          </a:xfrm>
          <a:prstGeom prst="rect">
            <a:avLst/>
          </a:prstGeom>
        </p:spPr>
      </p:pic>
    </p:spTree>
    <p:extLst>
      <p:ext uri="{BB962C8B-B14F-4D97-AF65-F5344CB8AC3E}">
        <p14:creationId xmlns:p14="http://schemas.microsoft.com/office/powerpoint/2010/main" val="862979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AC2CCD-8865-7811-2EDA-A3BD5E7C2D8F}"/>
              </a:ext>
            </a:extLst>
          </p:cNvPr>
          <p:cNvSpPr txBox="1"/>
          <p:nvPr/>
        </p:nvSpPr>
        <p:spPr>
          <a:xfrm>
            <a:off x="213694" y="-35781"/>
            <a:ext cx="6097656" cy="369332"/>
          </a:xfrm>
          <a:prstGeom prst="rect">
            <a:avLst/>
          </a:prstGeom>
          <a:noFill/>
        </p:spPr>
        <p:txBody>
          <a:bodyPr wrap="square">
            <a:spAutoFit/>
          </a:bodyPr>
          <a:lstStyle/>
          <a:p>
            <a:r>
              <a:rPr lang="en-IN" dirty="0"/>
              <a:t>script3</a:t>
            </a:r>
          </a:p>
        </p:txBody>
      </p:sp>
      <p:sp>
        <p:nvSpPr>
          <p:cNvPr id="7" name="TextBox 6">
            <a:extLst>
              <a:ext uri="{FF2B5EF4-FFF2-40B4-BE49-F238E27FC236}">
                <a16:creationId xmlns:a16="http://schemas.microsoft.com/office/drawing/2014/main" id="{65A83AA4-012D-39F6-905D-1F043DBEB97F}"/>
              </a:ext>
            </a:extLst>
          </p:cNvPr>
          <p:cNvSpPr txBox="1"/>
          <p:nvPr/>
        </p:nvSpPr>
        <p:spPr>
          <a:xfrm>
            <a:off x="213694" y="2766324"/>
            <a:ext cx="6097656" cy="369332"/>
          </a:xfrm>
          <a:prstGeom prst="rect">
            <a:avLst/>
          </a:prstGeom>
          <a:noFill/>
        </p:spPr>
        <p:txBody>
          <a:bodyPr wrap="square">
            <a:spAutoFit/>
          </a:bodyPr>
          <a:lstStyle/>
          <a:p>
            <a:r>
              <a:rPr lang="en-IN" dirty="0"/>
              <a:t>script4</a:t>
            </a:r>
          </a:p>
        </p:txBody>
      </p:sp>
      <p:sp>
        <p:nvSpPr>
          <p:cNvPr id="11" name="TextBox 10">
            <a:extLst>
              <a:ext uri="{FF2B5EF4-FFF2-40B4-BE49-F238E27FC236}">
                <a16:creationId xmlns:a16="http://schemas.microsoft.com/office/drawing/2014/main" id="{04B32A76-9215-23B8-78F4-1A6D6766F0E9}"/>
              </a:ext>
            </a:extLst>
          </p:cNvPr>
          <p:cNvSpPr txBox="1"/>
          <p:nvPr/>
        </p:nvSpPr>
        <p:spPr>
          <a:xfrm>
            <a:off x="213694" y="4300547"/>
            <a:ext cx="6097656" cy="369332"/>
          </a:xfrm>
          <a:prstGeom prst="rect">
            <a:avLst/>
          </a:prstGeom>
          <a:noFill/>
        </p:spPr>
        <p:txBody>
          <a:bodyPr wrap="square">
            <a:spAutoFit/>
          </a:bodyPr>
          <a:lstStyle/>
          <a:p>
            <a:r>
              <a:rPr lang="en-IN" dirty="0"/>
              <a:t>script5.</a:t>
            </a:r>
          </a:p>
        </p:txBody>
      </p:sp>
      <p:pic>
        <p:nvPicPr>
          <p:cNvPr id="4" name="Picture 3">
            <a:extLst>
              <a:ext uri="{FF2B5EF4-FFF2-40B4-BE49-F238E27FC236}">
                <a16:creationId xmlns:a16="http://schemas.microsoft.com/office/drawing/2014/main" id="{BA6FBF2E-FC3C-07DB-92D0-CBF4DE1778DF}"/>
              </a:ext>
            </a:extLst>
          </p:cNvPr>
          <p:cNvPicPr>
            <a:picLocks noChangeAspect="1"/>
          </p:cNvPicPr>
          <p:nvPr/>
        </p:nvPicPr>
        <p:blipFill>
          <a:blip r:embed="rId2"/>
          <a:stretch>
            <a:fillRect/>
          </a:stretch>
        </p:blipFill>
        <p:spPr>
          <a:xfrm>
            <a:off x="454348" y="368198"/>
            <a:ext cx="4663844" cy="1760373"/>
          </a:xfrm>
          <a:prstGeom prst="rect">
            <a:avLst/>
          </a:prstGeom>
        </p:spPr>
      </p:pic>
      <p:pic>
        <p:nvPicPr>
          <p:cNvPr id="8" name="Picture 7">
            <a:extLst>
              <a:ext uri="{FF2B5EF4-FFF2-40B4-BE49-F238E27FC236}">
                <a16:creationId xmlns:a16="http://schemas.microsoft.com/office/drawing/2014/main" id="{6B91DB37-449B-70E0-7DAF-BFA3C4E41BC0}"/>
              </a:ext>
            </a:extLst>
          </p:cNvPr>
          <p:cNvPicPr>
            <a:picLocks noChangeAspect="1"/>
          </p:cNvPicPr>
          <p:nvPr/>
        </p:nvPicPr>
        <p:blipFill>
          <a:blip r:embed="rId3"/>
          <a:stretch>
            <a:fillRect/>
          </a:stretch>
        </p:blipFill>
        <p:spPr>
          <a:xfrm>
            <a:off x="454348" y="3135656"/>
            <a:ext cx="4793395" cy="998307"/>
          </a:xfrm>
          <a:prstGeom prst="rect">
            <a:avLst/>
          </a:prstGeom>
        </p:spPr>
      </p:pic>
      <p:pic>
        <p:nvPicPr>
          <p:cNvPr id="10" name="Picture 9">
            <a:extLst>
              <a:ext uri="{FF2B5EF4-FFF2-40B4-BE49-F238E27FC236}">
                <a16:creationId xmlns:a16="http://schemas.microsoft.com/office/drawing/2014/main" id="{D3F024A3-6F05-D3F2-603D-324948765C1E}"/>
              </a:ext>
            </a:extLst>
          </p:cNvPr>
          <p:cNvPicPr>
            <a:picLocks noChangeAspect="1"/>
          </p:cNvPicPr>
          <p:nvPr/>
        </p:nvPicPr>
        <p:blipFill>
          <a:blip r:embed="rId4"/>
          <a:stretch>
            <a:fillRect/>
          </a:stretch>
        </p:blipFill>
        <p:spPr>
          <a:xfrm>
            <a:off x="454348" y="4669879"/>
            <a:ext cx="3839356" cy="1943268"/>
          </a:xfrm>
          <a:prstGeom prst="rect">
            <a:avLst/>
          </a:prstGeom>
        </p:spPr>
      </p:pic>
    </p:spTree>
    <p:extLst>
      <p:ext uri="{BB962C8B-B14F-4D97-AF65-F5344CB8AC3E}">
        <p14:creationId xmlns:p14="http://schemas.microsoft.com/office/powerpoint/2010/main" val="3400582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E7499C-9A3F-22A6-62A9-ABA66E099720}"/>
              </a:ext>
            </a:extLst>
          </p:cNvPr>
          <p:cNvSpPr txBox="1"/>
          <p:nvPr/>
        </p:nvSpPr>
        <p:spPr>
          <a:xfrm>
            <a:off x="3607904" y="178904"/>
            <a:ext cx="5538580" cy="400110"/>
          </a:xfrm>
          <a:prstGeom prst="rect">
            <a:avLst/>
          </a:prstGeom>
          <a:noFill/>
        </p:spPr>
        <p:txBody>
          <a:bodyPr wrap="square">
            <a:spAutoFit/>
          </a:bodyPr>
          <a:lstStyle/>
          <a:p>
            <a:r>
              <a:rPr lang="en-IN" sz="2000" u="sng" dirty="0">
                <a:latin typeface="Arial Black" panose="020B0A04020102020204" pitchFamily="34" charset="0"/>
              </a:rPr>
              <a:t>5. Project Timeline</a:t>
            </a:r>
          </a:p>
        </p:txBody>
      </p:sp>
      <p:sp>
        <p:nvSpPr>
          <p:cNvPr id="5" name="TextBox 4">
            <a:extLst>
              <a:ext uri="{FF2B5EF4-FFF2-40B4-BE49-F238E27FC236}">
                <a16:creationId xmlns:a16="http://schemas.microsoft.com/office/drawing/2014/main" id="{F868F94F-5621-2B5D-D836-9919D44E6864}"/>
              </a:ext>
            </a:extLst>
          </p:cNvPr>
          <p:cNvSpPr txBox="1"/>
          <p:nvPr/>
        </p:nvSpPr>
        <p:spPr>
          <a:xfrm>
            <a:off x="407504" y="698284"/>
            <a:ext cx="11648661" cy="5909310"/>
          </a:xfrm>
          <a:prstGeom prst="rect">
            <a:avLst/>
          </a:prstGeom>
          <a:noFill/>
        </p:spPr>
        <p:txBody>
          <a:bodyPr wrap="square">
            <a:spAutoFit/>
          </a:bodyPr>
          <a:lstStyle/>
          <a:p>
            <a:pPr>
              <a:buNone/>
            </a:pPr>
            <a:r>
              <a:rPr lang="en-US" dirty="0"/>
              <a:t>While working on this project, the process followed was structured in a way that balanced both understanding and implementation. Instead of rushing through tasks, time was divided to allow proper exploration of concepts as well as hands-on practice.</a:t>
            </a:r>
          </a:p>
          <a:p>
            <a:pPr>
              <a:buNone/>
            </a:pPr>
            <a:endParaRPr lang="en-US" dirty="0"/>
          </a:p>
          <a:p>
            <a:pPr>
              <a:buNone/>
            </a:pPr>
            <a:r>
              <a:rPr lang="en-US" b="1" dirty="0"/>
              <a:t>Day 1 — Setup and Understanding</a:t>
            </a:r>
          </a:p>
          <a:p>
            <a:pPr>
              <a:buNone/>
            </a:pPr>
            <a:r>
              <a:rPr lang="en-US" dirty="0"/>
              <a:t>The first day was focused on selecting the software and understanding its background. Git was chosen because of its importance in modern development and its strong connection to open-source philosophy. Initial research was done to understand its origin, and a Linux environment was prepared for practical work. Git was installed and basic commands were explored.</a:t>
            </a:r>
          </a:p>
          <a:p>
            <a:pPr>
              <a:buNone/>
            </a:pPr>
            <a:br>
              <a:rPr lang="en-US" dirty="0"/>
            </a:br>
            <a:endParaRPr lang="en-US" dirty="0"/>
          </a:p>
          <a:p>
            <a:pPr>
              <a:buNone/>
            </a:pPr>
            <a:r>
              <a:rPr lang="en-US" b="1" dirty="0"/>
              <a:t>Day 2 — Origin and Philosophy</a:t>
            </a:r>
          </a:p>
          <a:p>
            <a:pPr>
              <a:buNone/>
            </a:pPr>
            <a:r>
              <a:rPr lang="en-US" dirty="0"/>
              <a:t>The second day was dedicated to writing the origin story of Git. This involved understanding the real problem faced by developers and how Linus Torvalds approached it. Alongside this, the GPL license was studied in detail, and reflections were written on the ethical aspects of open-source software.</a:t>
            </a:r>
          </a:p>
          <a:p>
            <a:pPr>
              <a:buNone/>
            </a:pPr>
            <a:br>
              <a:rPr lang="en-US" dirty="0"/>
            </a:br>
            <a:endParaRPr lang="en-US" dirty="0"/>
          </a:p>
          <a:p>
            <a:pPr>
              <a:buNone/>
            </a:pPr>
            <a:r>
              <a:rPr lang="en-US" b="1" dirty="0"/>
              <a:t>Day 3 — Linux Footprint</a:t>
            </a:r>
          </a:p>
          <a:p>
            <a:pPr>
              <a:buNone/>
            </a:pPr>
            <a:r>
              <a:rPr lang="en-US" dirty="0"/>
              <a:t>On the third day, the focus shifted to practical analysis. Git was explored within the Linux system to understand where it is installed, how it behaves, and how it interacts with system resources. Commands were executed to identify directories, configuration files, and user-level execution.</a:t>
            </a:r>
          </a:p>
        </p:txBody>
      </p:sp>
    </p:spTree>
    <p:extLst>
      <p:ext uri="{BB962C8B-B14F-4D97-AF65-F5344CB8AC3E}">
        <p14:creationId xmlns:p14="http://schemas.microsoft.com/office/powerpoint/2010/main" val="2968302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BAE886-F20B-8EA6-1FCB-2A09A460B51B}"/>
              </a:ext>
            </a:extLst>
          </p:cNvPr>
          <p:cNvSpPr txBox="1"/>
          <p:nvPr/>
        </p:nvSpPr>
        <p:spPr>
          <a:xfrm>
            <a:off x="695739" y="318051"/>
            <a:ext cx="10694504" cy="5632311"/>
          </a:xfrm>
          <a:prstGeom prst="rect">
            <a:avLst/>
          </a:prstGeom>
          <a:noFill/>
        </p:spPr>
        <p:txBody>
          <a:bodyPr wrap="square">
            <a:spAutoFit/>
          </a:bodyPr>
          <a:lstStyle/>
          <a:p>
            <a:pPr>
              <a:buNone/>
            </a:pPr>
            <a:r>
              <a:rPr lang="en-US" b="1" dirty="0"/>
              <a:t>Day 4 — Shell Scripts (Part 1)</a:t>
            </a:r>
          </a:p>
          <a:p>
            <a:pPr>
              <a:buNone/>
            </a:pPr>
            <a:r>
              <a:rPr lang="en-US" dirty="0"/>
              <a:t>The fourth day involved writing the first two scripts. These scripts focused on system identity and package inspection. Special attention was given to understanding how commands like </a:t>
            </a:r>
            <a:r>
              <a:rPr lang="en-US" dirty="0" err="1">
                <a:latin typeface="Courier New" panose="02070309020205020404" pitchFamily="49" charset="0"/>
              </a:rPr>
              <a:t>uname</a:t>
            </a:r>
            <a:r>
              <a:rPr lang="en-US" dirty="0"/>
              <a:t>, </a:t>
            </a:r>
            <a:r>
              <a:rPr lang="en-US" dirty="0" err="1">
                <a:latin typeface="Courier New" panose="02070309020205020404" pitchFamily="49" charset="0"/>
              </a:rPr>
              <a:t>whoami</a:t>
            </a:r>
            <a:r>
              <a:rPr lang="en-US" dirty="0"/>
              <a:t>, and package managers work.</a:t>
            </a:r>
          </a:p>
          <a:p>
            <a:pPr>
              <a:buNone/>
            </a:pPr>
            <a:br>
              <a:rPr lang="en-US" dirty="0"/>
            </a:br>
            <a:endParaRPr lang="en-US" dirty="0"/>
          </a:p>
          <a:p>
            <a:pPr>
              <a:buNone/>
            </a:pPr>
            <a:r>
              <a:rPr lang="en-US" b="1" dirty="0"/>
              <a:t>Day 5 — Shell Scripts (Part 2)</a:t>
            </a:r>
          </a:p>
          <a:p>
            <a:pPr>
              <a:buNone/>
            </a:pPr>
            <a:r>
              <a:rPr lang="en-US" dirty="0"/>
              <a:t>On the fifth day, the remaining scripts were completed. These included directory auditing, log file analysis, and a creative manifesto generator. Each script was tested multiple times to ensure correctness and proper functionality.</a:t>
            </a:r>
          </a:p>
          <a:p>
            <a:pPr>
              <a:buNone/>
            </a:pPr>
            <a:br>
              <a:rPr lang="en-US" dirty="0"/>
            </a:br>
            <a:endParaRPr lang="en-US" dirty="0"/>
          </a:p>
          <a:p>
            <a:pPr>
              <a:buNone/>
            </a:pPr>
            <a:r>
              <a:rPr lang="en-US" b="1" dirty="0"/>
              <a:t>Day 6 — Ecosystem Study</a:t>
            </a:r>
          </a:p>
          <a:p>
            <a:pPr>
              <a:buNone/>
            </a:pPr>
            <a:r>
              <a:rPr lang="en-US" dirty="0"/>
              <a:t>The sixth day focused on understanding how Git fits into the larger open-source ecosystem. Platforms like GitHub and GitLab were studied to see how they extend Git’s functionality.</a:t>
            </a:r>
          </a:p>
          <a:p>
            <a:pPr>
              <a:buNone/>
            </a:pPr>
            <a:br>
              <a:rPr lang="en-US" dirty="0"/>
            </a:br>
            <a:endParaRPr lang="en-US" dirty="0"/>
          </a:p>
          <a:p>
            <a:pPr>
              <a:buNone/>
            </a:pPr>
            <a:r>
              <a:rPr lang="en-US" b="1" dirty="0"/>
              <a:t>Day 7 — Comparison and Conclusion</a:t>
            </a:r>
          </a:p>
          <a:p>
            <a:pPr>
              <a:buNone/>
            </a:pPr>
            <a:r>
              <a:rPr lang="en-US" dirty="0"/>
              <a:t>The final day was used to compare Git with proprietary alternatives and form a conclusion based on the entire study. The report was reviewed, refined, and organized into a structured format.</a:t>
            </a:r>
          </a:p>
        </p:txBody>
      </p:sp>
    </p:spTree>
    <p:extLst>
      <p:ext uri="{BB962C8B-B14F-4D97-AF65-F5344CB8AC3E}">
        <p14:creationId xmlns:p14="http://schemas.microsoft.com/office/powerpoint/2010/main" val="1858735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D8226C-E4FA-02D4-0638-07D1892E2917}"/>
              </a:ext>
            </a:extLst>
          </p:cNvPr>
          <p:cNvSpPr txBox="1"/>
          <p:nvPr/>
        </p:nvSpPr>
        <p:spPr>
          <a:xfrm>
            <a:off x="546652" y="327991"/>
            <a:ext cx="10078278" cy="4247317"/>
          </a:xfrm>
          <a:prstGeom prst="rect">
            <a:avLst/>
          </a:prstGeom>
          <a:noFill/>
        </p:spPr>
        <p:txBody>
          <a:bodyPr wrap="square">
            <a:spAutoFit/>
          </a:bodyPr>
          <a:lstStyle/>
          <a:p>
            <a:pPr>
              <a:buNone/>
            </a:pPr>
            <a:r>
              <a:rPr lang="en-US" b="1" dirty="0"/>
              <a:t>6. Evaluation Rubric (Reflection on Work Done)</a:t>
            </a:r>
          </a:p>
          <a:p>
            <a:pPr>
              <a:buNone/>
            </a:pPr>
            <a:r>
              <a:rPr lang="en-US" dirty="0"/>
              <a:t>This project was evaluated based on both theoretical understanding and practical implementation. The report contributed to the majority of the marks, while the shell scripts tested hands-on skills.</a:t>
            </a:r>
          </a:p>
          <a:p>
            <a:pPr>
              <a:buNone/>
            </a:pPr>
            <a:r>
              <a:rPr lang="en-US" b="1" dirty="0"/>
              <a:t>Report Evaluation (60 Marks)</a:t>
            </a:r>
          </a:p>
          <a:p>
            <a:pPr>
              <a:buNone/>
            </a:pPr>
            <a:r>
              <a:rPr lang="en-US" dirty="0"/>
              <a:t>The report focused on multiple dimensions:</a:t>
            </a:r>
          </a:p>
          <a:p>
            <a:pPr>
              <a:buFont typeface="Arial" panose="020B0604020202020204" pitchFamily="34" charset="0"/>
              <a:buChar char="•"/>
            </a:pPr>
            <a:r>
              <a:rPr lang="en-US" b="1" dirty="0"/>
              <a:t>Origin Story</a:t>
            </a:r>
            <a:r>
              <a:rPr lang="en-US" dirty="0"/>
              <a:t>: The background of Git was explained in detail, focusing on real-world problems and motivations. </a:t>
            </a:r>
          </a:p>
          <a:p>
            <a:pPr>
              <a:buFont typeface="Arial" panose="020B0604020202020204" pitchFamily="34" charset="0"/>
              <a:buChar char="•"/>
            </a:pPr>
            <a:r>
              <a:rPr lang="en-US" b="1" dirty="0"/>
              <a:t>License Analysis</a:t>
            </a:r>
            <a:r>
              <a:rPr lang="en-US" dirty="0"/>
              <a:t>: The GPL license was studied carefully, and its implications were explained in simple terms. </a:t>
            </a:r>
          </a:p>
          <a:p>
            <a:pPr>
              <a:buFont typeface="Arial" panose="020B0604020202020204" pitchFamily="34" charset="0"/>
              <a:buChar char="•"/>
            </a:pPr>
            <a:r>
              <a:rPr lang="en-US" b="1" dirty="0"/>
              <a:t>Ethical Reflection</a:t>
            </a:r>
            <a:r>
              <a:rPr lang="en-US" dirty="0"/>
              <a:t>: Personal opinions were included to reflect genuine understanding rather than memorized content. </a:t>
            </a:r>
          </a:p>
          <a:p>
            <a:pPr>
              <a:buFont typeface="Arial" panose="020B0604020202020204" pitchFamily="34" charset="0"/>
              <a:buChar char="•"/>
            </a:pPr>
            <a:r>
              <a:rPr lang="en-US" b="1" dirty="0"/>
              <a:t>Linux Footprint</a:t>
            </a:r>
            <a:r>
              <a:rPr lang="en-US" dirty="0"/>
              <a:t>: Practical interaction with Linux ensured that the analysis was not purely theoretical. </a:t>
            </a:r>
          </a:p>
          <a:p>
            <a:pPr>
              <a:buFont typeface="Arial" panose="020B0604020202020204" pitchFamily="34" charset="0"/>
              <a:buChar char="•"/>
            </a:pPr>
            <a:r>
              <a:rPr lang="en-US" b="1" dirty="0"/>
              <a:t>Ecosystem Understanding</a:t>
            </a:r>
            <a:r>
              <a:rPr lang="en-US" dirty="0"/>
              <a:t>: The role of Git in the larger open-source world was clearly explained. </a:t>
            </a:r>
          </a:p>
          <a:p>
            <a:pPr>
              <a:buFont typeface="Arial" panose="020B0604020202020204" pitchFamily="34" charset="0"/>
              <a:buChar char="•"/>
            </a:pPr>
            <a:r>
              <a:rPr lang="en-US" b="1" dirty="0"/>
              <a:t>Comparison</a:t>
            </a:r>
            <a:r>
              <a:rPr lang="en-US" dirty="0"/>
              <a:t>: A balanced comparison was made between open-source and proprietary tools.</a:t>
            </a:r>
          </a:p>
        </p:txBody>
      </p:sp>
      <p:sp>
        <p:nvSpPr>
          <p:cNvPr id="5" name="TextBox 4">
            <a:extLst>
              <a:ext uri="{FF2B5EF4-FFF2-40B4-BE49-F238E27FC236}">
                <a16:creationId xmlns:a16="http://schemas.microsoft.com/office/drawing/2014/main" id="{DC5CC027-2BE9-D3FD-B44A-23A1250BFF6B}"/>
              </a:ext>
            </a:extLst>
          </p:cNvPr>
          <p:cNvSpPr txBox="1"/>
          <p:nvPr/>
        </p:nvSpPr>
        <p:spPr>
          <a:xfrm rot="10800000" flipV="1">
            <a:off x="646041" y="4717735"/>
            <a:ext cx="9978888" cy="1754326"/>
          </a:xfrm>
          <a:prstGeom prst="rect">
            <a:avLst/>
          </a:prstGeom>
          <a:noFill/>
        </p:spPr>
        <p:txBody>
          <a:bodyPr wrap="square">
            <a:spAutoFit/>
          </a:bodyPr>
          <a:lstStyle/>
          <a:p>
            <a:pPr>
              <a:buNone/>
            </a:pPr>
            <a:r>
              <a:rPr lang="en-US" b="1" dirty="0"/>
              <a:t>Shell Scripts Evaluation (40 Marks)</a:t>
            </a:r>
          </a:p>
          <a:p>
            <a:pPr>
              <a:buNone/>
            </a:pPr>
            <a:r>
              <a:rPr lang="en-US" dirty="0"/>
              <a:t>Each script was designed to demonstrate specific concepts:</a:t>
            </a:r>
          </a:p>
          <a:p>
            <a:pPr>
              <a:buFont typeface="Arial" panose="020B0604020202020204" pitchFamily="34" charset="0"/>
              <a:buChar char="•"/>
            </a:pPr>
            <a:r>
              <a:rPr lang="en-US" b="1" dirty="0"/>
              <a:t>Correctness</a:t>
            </a:r>
            <a:r>
              <a:rPr lang="en-US" dirty="0"/>
              <a:t>: All scripts were tested and executed successfully on a Linux system. </a:t>
            </a:r>
          </a:p>
          <a:p>
            <a:pPr>
              <a:buFont typeface="Arial" panose="020B0604020202020204" pitchFamily="34" charset="0"/>
              <a:buChar char="•"/>
            </a:pPr>
            <a:r>
              <a:rPr lang="en-US" b="1" dirty="0"/>
              <a:t>Concept Usage</a:t>
            </a:r>
            <a:r>
              <a:rPr lang="en-US" dirty="0"/>
              <a:t>: Concepts like loops, conditionals, variables, and user input were used appropriately. </a:t>
            </a:r>
          </a:p>
          <a:p>
            <a:pPr>
              <a:buFont typeface="Arial" panose="020B0604020202020204" pitchFamily="34" charset="0"/>
              <a:buChar char="•"/>
            </a:pPr>
            <a:r>
              <a:rPr lang="en-US" b="1" dirty="0"/>
              <a:t>Documentation</a:t>
            </a:r>
            <a:r>
              <a:rPr lang="en-US" dirty="0"/>
              <a:t>: Each script included clear logic and purpose, making it easy to understand.</a:t>
            </a:r>
          </a:p>
        </p:txBody>
      </p:sp>
    </p:spTree>
    <p:extLst>
      <p:ext uri="{BB962C8B-B14F-4D97-AF65-F5344CB8AC3E}">
        <p14:creationId xmlns:p14="http://schemas.microsoft.com/office/powerpoint/2010/main" val="83873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98256A-60ED-22AA-9709-02F90EBED772}"/>
              </a:ext>
            </a:extLst>
          </p:cNvPr>
          <p:cNvSpPr txBox="1"/>
          <p:nvPr/>
        </p:nvSpPr>
        <p:spPr>
          <a:xfrm>
            <a:off x="238539" y="149087"/>
            <a:ext cx="11738113" cy="6582578"/>
          </a:xfrm>
          <a:prstGeom prst="rect">
            <a:avLst/>
          </a:prstGeom>
          <a:noFill/>
        </p:spPr>
        <p:txBody>
          <a:bodyPr wrap="square">
            <a:spAutoFit/>
          </a:bodyPr>
          <a:lstStyle/>
          <a:p>
            <a:pPr>
              <a:buNone/>
            </a:pPr>
            <a:r>
              <a:rPr lang="en-US" b="1" dirty="0"/>
              <a:t>. Reference Resources</a:t>
            </a:r>
          </a:p>
          <a:p>
            <a:pPr>
              <a:buNone/>
            </a:pPr>
            <a:r>
              <a:rPr lang="en-US" dirty="0"/>
              <a:t>During this project, several resources were used to understand concepts and gather information. These resources helped build a strong foundation without directly copying content.</a:t>
            </a:r>
          </a:p>
          <a:p>
            <a:pPr>
              <a:buNone/>
            </a:pPr>
            <a:br>
              <a:rPr lang="en-US" dirty="0"/>
            </a:br>
            <a:endParaRPr lang="en-US" dirty="0"/>
          </a:p>
          <a:p>
            <a:pPr>
              <a:buNone/>
            </a:pPr>
            <a:r>
              <a:rPr lang="en-US" b="1" dirty="0"/>
              <a:t> Open Source Philosophy</a:t>
            </a:r>
          </a:p>
          <a:p>
            <a:pPr>
              <a:buFont typeface="Arial" panose="020B0604020202020204" pitchFamily="34" charset="0"/>
              <a:buChar char="•"/>
            </a:pPr>
            <a:r>
              <a:rPr lang="en-US" dirty="0"/>
              <a:t>GNU Project — Provided insights into the philosophy of free software and the concept of software freedom. </a:t>
            </a:r>
          </a:p>
          <a:p>
            <a:pPr>
              <a:buFont typeface="Arial" panose="020B0604020202020204" pitchFamily="34" charset="0"/>
              <a:buChar char="•"/>
            </a:pPr>
            <a:r>
              <a:rPr lang="en-US" dirty="0"/>
              <a:t>Open Source Initiative — Helped understand the definition and principles of open-source software. </a:t>
            </a:r>
          </a:p>
          <a:p>
            <a:pPr>
              <a:buNone/>
            </a:pPr>
            <a:br>
              <a:rPr lang="en-US" dirty="0"/>
            </a:br>
            <a:endParaRPr lang="en-US" dirty="0"/>
          </a:p>
          <a:p>
            <a:pPr>
              <a:buNone/>
            </a:pPr>
            <a:r>
              <a:rPr lang="en-US" b="1" dirty="0"/>
              <a:t> Linux and Shell Scripting</a:t>
            </a:r>
          </a:p>
          <a:p>
            <a:pPr>
              <a:buFont typeface="Arial" panose="020B0604020202020204" pitchFamily="34" charset="0"/>
              <a:buChar char="•"/>
            </a:pPr>
            <a:r>
              <a:rPr lang="en-US" dirty="0"/>
              <a:t>Linux manual pages (</a:t>
            </a:r>
            <a:r>
              <a:rPr lang="en-US" dirty="0">
                <a:latin typeface="Courier New" panose="02070309020205020404" pitchFamily="49" charset="0"/>
              </a:rPr>
              <a:t>man</a:t>
            </a:r>
            <a:r>
              <a:rPr lang="en-US" dirty="0"/>
              <a:t> command) were used extensively to understand commands. </a:t>
            </a:r>
          </a:p>
          <a:p>
            <a:pPr>
              <a:buFont typeface="Arial" panose="020B0604020202020204" pitchFamily="34" charset="0"/>
              <a:buChar char="•"/>
            </a:pPr>
            <a:r>
              <a:rPr lang="en-US" dirty="0"/>
              <a:t>Basic shell scripting concepts were learned through practice and experimentation in the terminal. </a:t>
            </a:r>
          </a:p>
          <a:p>
            <a:pPr>
              <a:buNone/>
            </a:pPr>
            <a:br>
              <a:rPr lang="en-US" dirty="0"/>
            </a:br>
            <a:endParaRPr lang="en-US" dirty="0"/>
          </a:p>
          <a:p>
            <a:pPr>
              <a:buNone/>
            </a:pPr>
            <a:r>
              <a:rPr lang="en-US" b="1" dirty="0"/>
              <a:t> Git and Development</a:t>
            </a:r>
          </a:p>
          <a:p>
            <a:pPr>
              <a:buFont typeface="Arial" panose="020B0604020202020204" pitchFamily="34" charset="0"/>
              <a:buChar char="•"/>
            </a:pPr>
            <a:r>
              <a:rPr lang="en-US" dirty="0"/>
              <a:t>Official Git documentation and community forums were explored to understand real-world usage. </a:t>
            </a:r>
          </a:p>
          <a:p>
            <a:pPr>
              <a:buFont typeface="Arial" panose="020B0604020202020204" pitchFamily="34" charset="0"/>
              <a:buChar char="•"/>
            </a:pPr>
            <a:r>
              <a:rPr lang="en-US" dirty="0"/>
              <a:t>Platforms like GitHub provided practical exposure to how Git is used in collaborative environments. </a:t>
            </a:r>
          </a:p>
          <a:p>
            <a:pPr>
              <a:buNone/>
            </a:pPr>
            <a:br>
              <a:rPr lang="en-US" dirty="0"/>
            </a:br>
            <a:endParaRPr lang="en-US" dirty="0"/>
          </a:p>
          <a:p>
            <a:pPr>
              <a:buNone/>
            </a:pPr>
            <a:r>
              <a:rPr lang="en-US" b="1" dirty="0"/>
              <a:t>Learning Approach</a:t>
            </a:r>
          </a:p>
          <a:p>
            <a:pPr>
              <a:buNone/>
            </a:pPr>
            <a:r>
              <a:rPr lang="en-US" dirty="0"/>
              <a:t>Instead of relying on a single source, multiple references were explored to gain a deeper understanding. This approach helped in building original explanations and forming independent opinions.</a:t>
            </a:r>
          </a:p>
        </p:txBody>
      </p:sp>
    </p:spTree>
    <p:extLst>
      <p:ext uri="{BB962C8B-B14F-4D97-AF65-F5344CB8AC3E}">
        <p14:creationId xmlns:p14="http://schemas.microsoft.com/office/powerpoint/2010/main" val="1480632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9850C5-A130-1F37-FA03-82FA0C0BB0AD}"/>
              </a:ext>
            </a:extLst>
          </p:cNvPr>
          <p:cNvSpPr txBox="1"/>
          <p:nvPr/>
        </p:nvSpPr>
        <p:spPr>
          <a:xfrm>
            <a:off x="1" y="-357809"/>
            <a:ext cx="12192000" cy="7294305"/>
          </a:xfrm>
          <a:prstGeom prst="rect">
            <a:avLst/>
          </a:prstGeom>
          <a:noFill/>
        </p:spPr>
        <p:txBody>
          <a:bodyPr wrap="square">
            <a:spAutoFit/>
          </a:bodyPr>
          <a:lstStyle/>
          <a:p>
            <a:pPr>
              <a:buNone/>
            </a:pPr>
            <a:r>
              <a:rPr lang="en-US" b="1" dirty="0"/>
              <a:t>8. Submission Requirements</a:t>
            </a:r>
          </a:p>
          <a:p>
            <a:pPr>
              <a:buNone/>
            </a:pPr>
            <a:r>
              <a:rPr lang="en-US" dirty="0"/>
              <a:t>For the final submission, three main components were prepared and organized properly.</a:t>
            </a:r>
          </a:p>
          <a:p>
            <a:pPr>
              <a:buNone/>
            </a:pPr>
            <a:br>
              <a:rPr lang="en-US" dirty="0"/>
            </a:br>
            <a:endParaRPr lang="en-US" dirty="0"/>
          </a:p>
          <a:p>
            <a:pPr>
              <a:buNone/>
            </a:pPr>
            <a:r>
              <a:rPr lang="en-US" b="1" dirty="0"/>
              <a:t> 1. GitHub Repository</a:t>
            </a:r>
          </a:p>
          <a:p>
            <a:pPr>
              <a:buNone/>
            </a:pPr>
            <a:r>
              <a:rPr lang="en-US" dirty="0"/>
              <a:t>A public repository was created to store all project files. The repository includes:</a:t>
            </a:r>
          </a:p>
          <a:p>
            <a:pPr>
              <a:buFont typeface="Arial" panose="020B0604020202020204" pitchFamily="34" charset="0"/>
              <a:buChar char="•"/>
            </a:pPr>
            <a:r>
              <a:rPr lang="en-US" dirty="0"/>
              <a:t>All five </a:t>
            </a:r>
            <a:r>
              <a:rPr lang="en-US" dirty="0">
                <a:latin typeface="Courier New" panose="02070309020205020404" pitchFamily="49" charset="0"/>
              </a:rPr>
              <a:t>.</a:t>
            </a:r>
            <a:r>
              <a:rPr lang="en-US" dirty="0" err="1">
                <a:latin typeface="Courier New" panose="02070309020205020404" pitchFamily="49" charset="0"/>
              </a:rPr>
              <a:t>sh</a:t>
            </a:r>
            <a:r>
              <a:rPr lang="en-US" dirty="0"/>
              <a:t> script files </a:t>
            </a:r>
          </a:p>
          <a:p>
            <a:pPr>
              <a:buFont typeface="Arial" panose="020B0604020202020204" pitchFamily="34" charset="0"/>
              <a:buChar char="•"/>
            </a:pPr>
            <a:r>
              <a:rPr lang="en-US" dirty="0"/>
              <a:t>A </a:t>
            </a:r>
            <a:r>
              <a:rPr lang="en-US" dirty="0">
                <a:latin typeface="Courier New" panose="02070309020205020404" pitchFamily="49" charset="0"/>
              </a:rPr>
              <a:t>README.md</a:t>
            </a:r>
            <a:r>
              <a:rPr lang="en-US" dirty="0"/>
              <a:t> file explaining the project </a:t>
            </a:r>
          </a:p>
          <a:p>
            <a:pPr>
              <a:buFont typeface="Arial" panose="020B0604020202020204" pitchFamily="34" charset="0"/>
              <a:buChar char="•"/>
            </a:pPr>
            <a:r>
              <a:rPr lang="en-US" dirty="0"/>
              <a:t>Proper structure for easy understanding </a:t>
            </a:r>
          </a:p>
          <a:p>
            <a:pPr>
              <a:buNone/>
            </a:pPr>
            <a:r>
              <a:rPr lang="en-US" dirty="0"/>
              <a:t>The repository is named as:</a:t>
            </a:r>
          </a:p>
          <a:p>
            <a:pPr rtl="0">
              <a:buNone/>
            </a:pPr>
            <a:r>
              <a:rPr lang="en-US" dirty="0" err="1">
                <a:latin typeface="Courier New" panose="02070309020205020404" pitchFamily="49" charset="0"/>
              </a:rPr>
              <a:t>oss</a:t>
            </a:r>
            <a:r>
              <a:rPr lang="en-US" dirty="0">
                <a:latin typeface="Courier New" panose="02070309020205020404" pitchFamily="49" charset="0"/>
              </a:rPr>
              <a:t>-audit-[roll number]</a:t>
            </a:r>
          </a:p>
          <a:p>
            <a:pPr>
              <a:buNone/>
            </a:pPr>
            <a:br>
              <a:rPr lang="en-US" dirty="0"/>
            </a:br>
            <a:endParaRPr lang="en-US" dirty="0"/>
          </a:p>
          <a:p>
            <a:pPr>
              <a:buNone/>
            </a:pPr>
            <a:r>
              <a:rPr lang="en-US" b="1" dirty="0"/>
              <a:t> 2. README.md</a:t>
            </a:r>
          </a:p>
          <a:p>
            <a:pPr>
              <a:buNone/>
            </a:pPr>
            <a:r>
              <a:rPr lang="en-US" dirty="0"/>
              <a:t>The README file contains:</a:t>
            </a:r>
          </a:p>
          <a:p>
            <a:pPr>
              <a:buFont typeface="Arial" panose="020B0604020202020204" pitchFamily="34" charset="0"/>
              <a:buChar char="•"/>
            </a:pPr>
            <a:r>
              <a:rPr lang="en-US" dirty="0"/>
              <a:t>Student name and details </a:t>
            </a:r>
          </a:p>
          <a:p>
            <a:pPr>
              <a:buFont typeface="Arial" panose="020B0604020202020204" pitchFamily="34" charset="0"/>
              <a:buChar char="•"/>
            </a:pPr>
            <a:r>
              <a:rPr lang="en-US" dirty="0"/>
              <a:t>Chosen software (Git) </a:t>
            </a:r>
          </a:p>
          <a:p>
            <a:pPr>
              <a:buFont typeface="Arial" panose="020B0604020202020204" pitchFamily="34" charset="0"/>
              <a:buChar char="•"/>
            </a:pPr>
            <a:r>
              <a:rPr lang="en-US" dirty="0"/>
              <a:t>Description of each script </a:t>
            </a:r>
          </a:p>
          <a:p>
            <a:pPr>
              <a:buFont typeface="Arial" panose="020B0604020202020204" pitchFamily="34" charset="0"/>
              <a:buChar char="•"/>
            </a:pPr>
            <a:r>
              <a:rPr lang="en-US" dirty="0"/>
              <a:t>Instructions to run scripts on Linux </a:t>
            </a:r>
          </a:p>
          <a:p>
            <a:pPr>
              <a:buNone/>
            </a:pPr>
            <a:r>
              <a:rPr lang="en-US" dirty="0"/>
              <a:t>Example structure:</a:t>
            </a:r>
          </a:p>
          <a:p>
            <a:pPr>
              <a:buFont typeface="Arial" panose="020B0604020202020204" pitchFamily="34" charset="0"/>
              <a:buChar char="•"/>
            </a:pPr>
            <a:r>
              <a:rPr lang="en-US" dirty="0"/>
              <a:t>Project overview </a:t>
            </a:r>
          </a:p>
          <a:p>
            <a:pPr>
              <a:buFont typeface="Arial" panose="020B0604020202020204" pitchFamily="34" charset="0"/>
              <a:buChar char="•"/>
            </a:pPr>
            <a:r>
              <a:rPr lang="en-US" dirty="0"/>
              <a:t>Script explanations </a:t>
            </a:r>
          </a:p>
          <a:p>
            <a:pPr>
              <a:buFont typeface="Arial" panose="020B0604020202020204" pitchFamily="34" charset="0"/>
              <a:buChar char="•"/>
            </a:pPr>
            <a:r>
              <a:rPr lang="en-US" dirty="0"/>
              <a:t>How to execute each script </a:t>
            </a:r>
          </a:p>
          <a:p>
            <a:pPr>
              <a:buFont typeface="Arial" panose="020B0604020202020204" pitchFamily="34" charset="0"/>
              <a:buChar char="•"/>
            </a:pPr>
            <a:r>
              <a:rPr lang="en-US" dirty="0"/>
              <a:t>Dependencies (if any) </a:t>
            </a:r>
          </a:p>
          <a:p>
            <a:pPr>
              <a:buNone/>
            </a:pPr>
            <a:br>
              <a:rPr lang="en-US" dirty="0"/>
            </a:br>
            <a:endParaRPr lang="en-US" dirty="0"/>
          </a:p>
        </p:txBody>
      </p:sp>
    </p:spTree>
    <p:extLst>
      <p:ext uri="{BB962C8B-B14F-4D97-AF65-F5344CB8AC3E}">
        <p14:creationId xmlns:p14="http://schemas.microsoft.com/office/powerpoint/2010/main" val="3246437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776158-5739-E428-0B0F-808B992E55A4}"/>
              </a:ext>
            </a:extLst>
          </p:cNvPr>
          <p:cNvSpPr txBox="1"/>
          <p:nvPr/>
        </p:nvSpPr>
        <p:spPr>
          <a:xfrm>
            <a:off x="576470" y="357809"/>
            <a:ext cx="10903226" cy="3970318"/>
          </a:xfrm>
          <a:prstGeom prst="rect">
            <a:avLst/>
          </a:prstGeom>
          <a:noFill/>
        </p:spPr>
        <p:txBody>
          <a:bodyPr wrap="square">
            <a:spAutoFit/>
          </a:bodyPr>
          <a:lstStyle/>
          <a:p>
            <a:pPr>
              <a:buNone/>
            </a:pPr>
            <a:r>
              <a:rPr lang="en-US" b="1" dirty="0"/>
              <a:t> 3. Project Report PDF</a:t>
            </a:r>
          </a:p>
          <a:p>
            <a:pPr>
              <a:buNone/>
            </a:pPr>
            <a:r>
              <a:rPr lang="en-US" dirty="0"/>
              <a:t>The final report includes:</a:t>
            </a:r>
          </a:p>
          <a:p>
            <a:pPr>
              <a:buFont typeface="Arial" panose="020B0604020202020204" pitchFamily="34" charset="0"/>
              <a:buChar char="•"/>
            </a:pPr>
            <a:r>
              <a:rPr lang="en-US" dirty="0"/>
              <a:t>All sections from Introduction to Conclusion </a:t>
            </a:r>
          </a:p>
          <a:p>
            <a:pPr>
              <a:buFont typeface="Arial" panose="020B0604020202020204" pitchFamily="34" charset="0"/>
              <a:buChar char="•"/>
            </a:pPr>
            <a:r>
              <a:rPr lang="en-US" dirty="0"/>
              <a:t>Shell script code with explanations </a:t>
            </a:r>
          </a:p>
          <a:p>
            <a:pPr>
              <a:buFont typeface="Arial" panose="020B0604020202020204" pitchFamily="34" charset="0"/>
              <a:buChar char="•"/>
            </a:pPr>
            <a:r>
              <a:rPr lang="en-US" dirty="0"/>
              <a:t>Screenshots of script execution </a:t>
            </a:r>
          </a:p>
          <a:p>
            <a:pPr>
              <a:buFont typeface="Arial" panose="020B0604020202020204" pitchFamily="34" charset="0"/>
              <a:buChar char="•"/>
            </a:pPr>
            <a:r>
              <a:rPr lang="en-US" dirty="0"/>
              <a:t>Proper formatting and structure (12–16 pages) </a:t>
            </a:r>
          </a:p>
          <a:p>
            <a:pPr>
              <a:buNone/>
            </a:pPr>
            <a:br>
              <a:rPr lang="en-US" dirty="0"/>
            </a:br>
            <a:endParaRPr lang="en-US" dirty="0"/>
          </a:p>
          <a:p>
            <a:pPr>
              <a:buNone/>
            </a:pPr>
            <a:r>
              <a:rPr lang="en-US" b="1" dirty="0"/>
              <a:t> Final Submission Process</a:t>
            </a:r>
          </a:p>
          <a:p>
            <a:pPr>
              <a:buNone/>
            </a:pPr>
            <a:r>
              <a:rPr lang="en-US" dirty="0"/>
              <a:t>All components were uploaded together on the </a:t>
            </a:r>
            <a:r>
              <a:rPr lang="en-US" dirty="0" err="1"/>
              <a:t>VITyarthi</a:t>
            </a:r>
            <a:r>
              <a:rPr lang="en-US" dirty="0"/>
              <a:t> portal:</a:t>
            </a:r>
          </a:p>
          <a:p>
            <a:pPr>
              <a:buFont typeface="Arial" panose="020B0604020202020204" pitchFamily="34" charset="0"/>
              <a:buChar char="•"/>
            </a:pPr>
            <a:r>
              <a:rPr lang="en-US" dirty="0"/>
              <a:t>GitHub repository link </a:t>
            </a:r>
          </a:p>
          <a:p>
            <a:pPr>
              <a:buFont typeface="Arial" panose="020B0604020202020204" pitchFamily="34" charset="0"/>
              <a:buChar char="•"/>
            </a:pPr>
            <a:r>
              <a:rPr lang="en-US" dirty="0"/>
              <a:t>Confirmation of README presence </a:t>
            </a:r>
          </a:p>
          <a:p>
            <a:pPr>
              <a:buFont typeface="Arial" panose="020B0604020202020204" pitchFamily="34" charset="0"/>
              <a:buChar char="•"/>
            </a:pPr>
            <a:r>
              <a:rPr lang="en-US" dirty="0"/>
              <a:t>Project report PDF </a:t>
            </a:r>
          </a:p>
          <a:p>
            <a:pPr>
              <a:buNone/>
            </a:pPr>
            <a:r>
              <a:rPr lang="en-US" dirty="0"/>
              <a:t>Care was taken to ensure that all parts were complete and properly organized before submission.</a:t>
            </a:r>
          </a:p>
        </p:txBody>
      </p:sp>
    </p:spTree>
    <p:extLst>
      <p:ext uri="{BB962C8B-B14F-4D97-AF65-F5344CB8AC3E}">
        <p14:creationId xmlns:p14="http://schemas.microsoft.com/office/powerpoint/2010/main" val="3478961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83F8FA-C70C-A7E2-BEB7-BCE242ED95E9}"/>
              </a:ext>
            </a:extLst>
          </p:cNvPr>
          <p:cNvSpPr txBox="1"/>
          <p:nvPr/>
        </p:nvSpPr>
        <p:spPr>
          <a:xfrm>
            <a:off x="864703" y="477079"/>
            <a:ext cx="9640957" cy="2585323"/>
          </a:xfrm>
          <a:prstGeom prst="rect">
            <a:avLst/>
          </a:prstGeom>
          <a:noFill/>
        </p:spPr>
        <p:txBody>
          <a:bodyPr wrap="square">
            <a:spAutoFit/>
          </a:bodyPr>
          <a:lstStyle/>
          <a:p>
            <a:pPr>
              <a:buNone/>
            </a:pPr>
            <a:r>
              <a:rPr lang="en-US" b="1" dirty="0"/>
              <a:t>Final Closing thought:</a:t>
            </a:r>
          </a:p>
          <a:p>
            <a:pPr>
              <a:buNone/>
            </a:pPr>
            <a:endParaRPr lang="en-US" b="1" dirty="0"/>
          </a:p>
          <a:p>
            <a:pPr>
              <a:buNone/>
            </a:pPr>
            <a:r>
              <a:rPr lang="en-US" dirty="0"/>
              <a:t>This project provided a deeper understanding of how open-source software shapes the modern technological landscape. Working with Git highlighted not only its technical capabilities but also the philosophy behind its creation. It demonstrated how collaboration, transparency, and shared knowledge can lead to powerful innovations.</a:t>
            </a:r>
          </a:p>
          <a:p>
            <a:pPr>
              <a:buNone/>
            </a:pPr>
            <a:r>
              <a:rPr lang="en-US" dirty="0"/>
              <a:t>Through both theoretical exploration and practical implementation, this project helped in developing a balanced perspective on open-source systems. It also reinforced the importance of learning by doing, especially when working with tools that are widely used in the real world.</a:t>
            </a:r>
          </a:p>
        </p:txBody>
      </p:sp>
      <p:sp>
        <p:nvSpPr>
          <p:cNvPr id="5" name="TextBox 4">
            <a:extLst>
              <a:ext uri="{FF2B5EF4-FFF2-40B4-BE49-F238E27FC236}">
                <a16:creationId xmlns:a16="http://schemas.microsoft.com/office/drawing/2014/main" id="{2E5C32F1-C5C7-E460-2F39-BE3B0D1A7800}"/>
              </a:ext>
            </a:extLst>
          </p:cNvPr>
          <p:cNvSpPr txBox="1"/>
          <p:nvPr/>
        </p:nvSpPr>
        <p:spPr>
          <a:xfrm>
            <a:off x="864703" y="3140765"/>
            <a:ext cx="10167732" cy="1200329"/>
          </a:xfrm>
          <a:prstGeom prst="rect">
            <a:avLst/>
          </a:prstGeom>
          <a:noFill/>
        </p:spPr>
        <p:txBody>
          <a:bodyPr wrap="square">
            <a:spAutoFit/>
          </a:bodyPr>
          <a:lstStyle/>
          <a:p>
            <a:r>
              <a:rPr lang="en-US" dirty="0"/>
              <a:t>This project provided a deep understanding of Git and its role in open-source development. It showed how open-source software encourages collaboration and innovation. Git is not just a tool but a foundation of modern software development, and learning it provides valuable insights into how real-world systems are built and maintained.</a:t>
            </a:r>
            <a:endParaRPr lang="en-IN" dirty="0"/>
          </a:p>
        </p:txBody>
      </p:sp>
    </p:spTree>
    <p:extLst>
      <p:ext uri="{BB962C8B-B14F-4D97-AF65-F5344CB8AC3E}">
        <p14:creationId xmlns:p14="http://schemas.microsoft.com/office/powerpoint/2010/main" val="3729536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2851</Words>
  <Application>Microsoft Office PowerPoint</Application>
  <PresentationFormat>Widescreen</PresentationFormat>
  <Paragraphs>277</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Arial Black</vt:lpstr>
      <vt:lpstr>Courier New</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VINEET MISHRA</dc:creator>
  <cp:lastModifiedBy>Devesh pandey</cp:lastModifiedBy>
  <cp:revision>5</cp:revision>
  <dcterms:created xsi:type="dcterms:W3CDTF">2026-03-25T15:14:43Z</dcterms:created>
  <dcterms:modified xsi:type="dcterms:W3CDTF">2026-03-30T09:52:15Z</dcterms:modified>
</cp:coreProperties>
</file>